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7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8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9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5" r:id="rId6"/>
    <p:sldId id="260" r:id="rId7"/>
    <p:sldId id="261" r:id="rId8"/>
    <p:sldId id="283" r:id="rId9"/>
    <p:sldId id="282" r:id="rId10"/>
    <p:sldId id="262" r:id="rId11"/>
    <p:sldId id="263" r:id="rId12"/>
    <p:sldId id="268" r:id="rId13"/>
    <p:sldId id="265" r:id="rId14"/>
    <p:sldId id="266" r:id="rId15"/>
    <p:sldId id="270" r:id="rId16"/>
    <p:sldId id="271" r:id="rId17"/>
    <p:sldId id="272" r:id="rId18"/>
    <p:sldId id="273" r:id="rId19"/>
    <p:sldId id="274" r:id="rId20"/>
    <p:sldId id="278" r:id="rId21"/>
    <p:sldId id="284" r:id="rId22"/>
    <p:sldId id="275" r:id="rId23"/>
    <p:sldId id="276" r:id="rId24"/>
    <p:sldId id="279" r:id="rId25"/>
    <p:sldId id="281" r:id="rId26"/>
    <p:sldId id="280" r:id="rId27"/>
    <p:sldId id="267" r:id="rId28"/>
  </p:sldIdLst>
  <p:sldSz cx="24384000" cy="13716000"/>
  <p:notesSz cx="6797675" cy="9926638"/>
  <p:embeddedFontLst>
    <p:embeddedFont>
      <p:font typeface="Nanum NeuRisNeuRisCe" panose="020B0600000101010101" charset="-127"/>
      <p:regular r:id="rId30"/>
    </p:embeddedFont>
    <p:embeddedFont>
      <p:font typeface="Franklin Gothic Book" panose="020B0503020102020204" pitchFamily="34" charset="0"/>
      <p:regular r:id="rId31"/>
      <p: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사하" initials="사" lastIdx="1" clrIdx="0">
    <p:extLst>
      <p:ext uri="{19B8F6BF-5375-455C-9EA6-DF929625EA0E}">
        <p15:presenceInfo xmlns:p15="http://schemas.microsoft.com/office/powerpoint/2012/main" userId="사하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78605" autoAdjust="0"/>
  </p:normalViewPr>
  <p:slideViewPr>
    <p:cSldViewPr>
      <p:cViewPr varScale="1">
        <p:scale>
          <a:sx n="57" d="100"/>
          <a:sy n="57" d="100"/>
        </p:scale>
        <p:origin x="47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&#49457;&#51109;&#54869;&#51109;&#50948;&#50896;&#54924;\2025&#45380;\&#47564;&#51313;&#46020;&#51312;&#49324;2025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그래프!$B$4</c:f>
              <c:strCache>
                <c:ptCount val="1"/>
                <c:pt idx="0">
                  <c:v>2024년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그래프!$C$3:$J$3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그래프!$C$4:$J$4</c:f>
              <c:numCache>
                <c:formatCode>###0.0</c:formatCode>
                <c:ptCount val="8"/>
                <c:pt idx="0">
                  <c:v>7.7</c:v>
                </c:pt>
                <c:pt idx="1">
                  <c:v>7.2</c:v>
                </c:pt>
                <c:pt idx="2">
                  <c:v>7.7</c:v>
                </c:pt>
                <c:pt idx="3">
                  <c:v>7.1</c:v>
                </c:pt>
                <c:pt idx="4">
                  <c:v>7.1</c:v>
                </c:pt>
                <c:pt idx="5">
                  <c:v>7.3</c:v>
                </c:pt>
                <c:pt idx="6">
                  <c:v>7.1</c:v>
                </c:pt>
                <c:pt idx="7">
                  <c:v>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0CE-495B-B13D-34E27ED0E358}"/>
            </c:ext>
          </c:extLst>
        </c:ser>
        <c:ser>
          <c:idx val="1"/>
          <c:order val="1"/>
          <c:tx>
            <c:strRef>
              <c:f>그래프!$B$5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그래프!$C$3:$J$3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그래프!$C$5:$J$5</c:f>
              <c:numCache>
                <c:formatCode>###0.0</c:formatCode>
                <c:ptCount val="8"/>
                <c:pt idx="0">
                  <c:v>8.31</c:v>
                </c:pt>
                <c:pt idx="1">
                  <c:v>8.31</c:v>
                </c:pt>
                <c:pt idx="2">
                  <c:v>8.31</c:v>
                </c:pt>
                <c:pt idx="3">
                  <c:v>8</c:v>
                </c:pt>
                <c:pt idx="4">
                  <c:v>8.15</c:v>
                </c:pt>
                <c:pt idx="5">
                  <c:v>8.15</c:v>
                </c:pt>
                <c:pt idx="6">
                  <c:v>8.31</c:v>
                </c:pt>
                <c:pt idx="7">
                  <c:v>8.3000000000000007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CE-495B-B13D-34E27ED0E3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그래프!$B$9</c:f>
              <c:strCache>
                <c:ptCount val="1"/>
                <c:pt idx="0">
                  <c:v>2024년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그래프!$C$8:$J$8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그래프!$C$9:$J$9</c:f>
              <c:numCache>
                <c:formatCode>###0.0</c:formatCode>
                <c:ptCount val="8"/>
                <c:pt idx="0">
                  <c:v>8.5</c:v>
                </c:pt>
                <c:pt idx="1">
                  <c:v>7.7</c:v>
                </c:pt>
                <c:pt idx="2">
                  <c:v>7.6</c:v>
                </c:pt>
                <c:pt idx="3">
                  <c:v>8.6</c:v>
                </c:pt>
                <c:pt idx="4">
                  <c:v>7</c:v>
                </c:pt>
                <c:pt idx="5">
                  <c:v>8.4</c:v>
                </c:pt>
                <c:pt idx="6">
                  <c:v>8.3000000000000007</c:v>
                </c:pt>
                <c:pt idx="7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4A-47E4-8033-23D1411C4188}"/>
            </c:ext>
          </c:extLst>
        </c:ser>
        <c:ser>
          <c:idx val="1"/>
          <c:order val="1"/>
          <c:tx>
            <c:strRef>
              <c:f>그래프!$B$10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그래프!$C$8:$J$8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그래프!$C$10:$J$10</c:f>
              <c:numCache>
                <c:formatCode>0.0</c:formatCode>
                <c:ptCount val="8"/>
                <c:pt idx="0">
                  <c:v>8.09</c:v>
                </c:pt>
                <c:pt idx="1">
                  <c:v>7.49</c:v>
                </c:pt>
                <c:pt idx="2">
                  <c:v>7.74</c:v>
                </c:pt>
                <c:pt idx="3">
                  <c:v>7.83</c:v>
                </c:pt>
                <c:pt idx="4">
                  <c:v>6.85</c:v>
                </c:pt>
                <c:pt idx="5">
                  <c:v>7.53</c:v>
                </c:pt>
                <c:pt idx="6">
                  <c:v>7.4</c:v>
                </c:pt>
                <c:pt idx="7">
                  <c:v>7.19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4A-47E4-8033-23D1411C41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그래프!$B$14</c:f>
              <c:strCache>
                <c:ptCount val="1"/>
                <c:pt idx="0">
                  <c:v>2024년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그래프!$C$13:$J$13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그래프!$C$14:$J$14</c:f>
              <c:numCache>
                <c:formatCode>###0.0</c:formatCode>
                <c:ptCount val="8"/>
                <c:pt idx="0">
                  <c:v>7.9</c:v>
                </c:pt>
                <c:pt idx="1">
                  <c:v>7.3</c:v>
                </c:pt>
                <c:pt idx="2">
                  <c:v>7.5</c:v>
                </c:pt>
                <c:pt idx="3">
                  <c:v>7.36</c:v>
                </c:pt>
                <c:pt idx="4">
                  <c:v>7</c:v>
                </c:pt>
                <c:pt idx="5">
                  <c:v>6.9</c:v>
                </c:pt>
                <c:pt idx="6">
                  <c:v>6.9</c:v>
                </c:pt>
                <c:pt idx="7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2-48B5-8E7B-7253DC14CB0D}"/>
            </c:ext>
          </c:extLst>
        </c:ser>
        <c:ser>
          <c:idx val="1"/>
          <c:order val="1"/>
          <c:tx>
            <c:strRef>
              <c:f>그래프!$B$15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그래프!$C$13:$J$13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그래프!$C$15:$J$15</c:f>
              <c:numCache>
                <c:formatCode>0.0</c:formatCode>
                <c:ptCount val="8"/>
                <c:pt idx="0">
                  <c:v>7.47</c:v>
                </c:pt>
                <c:pt idx="1">
                  <c:v>6.63</c:v>
                </c:pt>
                <c:pt idx="2">
                  <c:v>6.95</c:v>
                </c:pt>
                <c:pt idx="3">
                  <c:v>8</c:v>
                </c:pt>
                <c:pt idx="4">
                  <c:v>7.05</c:v>
                </c:pt>
                <c:pt idx="5">
                  <c:v>7.79</c:v>
                </c:pt>
                <c:pt idx="6">
                  <c:v>7.58</c:v>
                </c:pt>
                <c:pt idx="7">
                  <c:v>7.58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42-48B5-8E7B-7253DC14CB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그래프!$B$19</c:f>
              <c:strCache>
                <c:ptCount val="1"/>
                <c:pt idx="0">
                  <c:v>2024년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그래프!$C$18:$J$18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그래프!$C$19:$J$19</c:f>
              <c:numCache>
                <c:formatCode>###0.0</c:formatCode>
                <c:ptCount val="8"/>
                <c:pt idx="0">
                  <c:v>7.2</c:v>
                </c:pt>
                <c:pt idx="1">
                  <c:v>6.4</c:v>
                </c:pt>
                <c:pt idx="2">
                  <c:v>6.8</c:v>
                </c:pt>
                <c:pt idx="3">
                  <c:v>6.5</c:v>
                </c:pt>
                <c:pt idx="4">
                  <c:v>5.0999999999999996</c:v>
                </c:pt>
                <c:pt idx="5">
                  <c:v>6.9</c:v>
                </c:pt>
                <c:pt idx="6">
                  <c:v>6.5</c:v>
                </c:pt>
                <c:pt idx="7">
                  <c:v>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E4-4B1E-8E29-59C948796EF5}"/>
            </c:ext>
          </c:extLst>
        </c:ser>
        <c:ser>
          <c:idx val="1"/>
          <c:order val="1"/>
          <c:tx>
            <c:strRef>
              <c:f>그래프!$B$20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그래프!$C$18:$J$18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그래프!$C$20:$J$20</c:f>
              <c:numCache>
                <c:formatCode>###0.0</c:formatCode>
                <c:ptCount val="8"/>
                <c:pt idx="0">
                  <c:v>8.09</c:v>
                </c:pt>
                <c:pt idx="1">
                  <c:v>7.49</c:v>
                </c:pt>
                <c:pt idx="2">
                  <c:v>7.74</c:v>
                </c:pt>
                <c:pt idx="3">
                  <c:v>7.83</c:v>
                </c:pt>
                <c:pt idx="4">
                  <c:v>6.85</c:v>
                </c:pt>
                <c:pt idx="5">
                  <c:v>7.53</c:v>
                </c:pt>
                <c:pt idx="6">
                  <c:v>7.4</c:v>
                </c:pt>
                <c:pt idx="7">
                  <c:v>7.19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EE4-4B1E-8E29-59C948796E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그래프!$B$25</c:f>
              <c:strCache>
                <c:ptCount val="1"/>
                <c:pt idx="0">
                  <c:v>2024년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그래프!$C$24:$J$24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그래프!$C$25:$J$25</c:f>
              <c:numCache>
                <c:formatCode>###0.0</c:formatCode>
                <c:ptCount val="8"/>
                <c:pt idx="0">
                  <c:v>9.2000000000000011</c:v>
                </c:pt>
                <c:pt idx="1">
                  <c:v>8.6666666666666679</c:v>
                </c:pt>
                <c:pt idx="2">
                  <c:v>8.8000000000000007</c:v>
                </c:pt>
                <c:pt idx="3">
                  <c:v>8.6666666666666661</c:v>
                </c:pt>
                <c:pt idx="4">
                  <c:v>8</c:v>
                </c:pt>
                <c:pt idx="5">
                  <c:v>8.8000000000000007</c:v>
                </c:pt>
                <c:pt idx="6">
                  <c:v>8.9333333333333336</c:v>
                </c:pt>
                <c:pt idx="7">
                  <c:v>8.6666666666666679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EC-461A-B95B-3746520B2EDA}"/>
            </c:ext>
          </c:extLst>
        </c:ser>
        <c:ser>
          <c:idx val="1"/>
          <c:order val="1"/>
          <c:tx>
            <c:strRef>
              <c:f>그래프!$B$26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그래프!$C$24:$J$24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그래프!$C$26:$J$26</c:f>
              <c:numCache>
                <c:formatCode>###0.0</c:formatCode>
                <c:ptCount val="8"/>
                <c:pt idx="0">
                  <c:v>7.5</c:v>
                </c:pt>
                <c:pt idx="1">
                  <c:v>6.8</c:v>
                </c:pt>
                <c:pt idx="2">
                  <c:v>6.9</c:v>
                </c:pt>
                <c:pt idx="3">
                  <c:v>7</c:v>
                </c:pt>
                <c:pt idx="4">
                  <c:v>6.1</c:v>
                </c:pt>
                <c:pt idx="5">
                  <c:v>6.7</c:v>
                </c:pt>
                <c:pt idx="6">
                  <c:v>6.5</c:v>
                </c:pt>
                <c:pt idx="7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EC-461A-B95B-3746520B2E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그래프!$B$30</c:f>
              <c:strCache>
                <c:ptCount val="1"/>
                <c:pt idx="0">
                  <c:v>2024년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그래프!$C$29:$J$29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그래프!$C$30:$J$30</c:f>
              <c:numCache>
                <c:formatCode>###0.0</c:formatCode>
                <c:ptCount val="8"/>
                <c:pt idx="0">
                  <c:v>7.7</c:v>
                </c:pt>
                <c:pt idx="1">
                  <c:v>7.1</c:v>
                </c:pt>
                <c:pt idx="2">
                  <c:v>7.6</c:v>
                </c:pt>
                <c:pt idx="3">
                  <c:v>7.1</c:v>
                </c:pt>
                <c:pt idx="4">
                  <c:v>6</c:v>
                </c:pt>
                <c:pt idx="5">
                  <c:v>7.6</c:v>
                </c:pt>
                <c:pt idx="6">
                  <c:v>7.8</c:v>
                </c:pt>
                <c:pt idx="7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14-4E40-A2CD-1C09628A8255}"/>
            </c:ext>
          </c:extLst>
        </c:ser>
        <c:ser>
          <c:idx val="1"/>
          <c:order val="1"/>
          <c:tx>
            <c:strRef>
              <c:f>그래프!$B$31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그래프!$C$29:$J$29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그래프!$C$31:$J$31</c:f>
              <c:numCache>
                <c:formatCode>###0.0</c:formatCode>
                <c:ptCount val="8"/>
                <c:pt idx="0">
                  <c:v>7.03</c:v>
                </c:pt>
                <c:pt idx="1">
                  <c:v>6.21</c:v>
                </c:pt>
                <c:pt idx="2">
                  <c:v>6.35</c:v>
                </c:pt>
                <c:pt idx="3">
                  <c:v>6.55</c:v>
                </c:pt>
                <c:pt idx="4">
                  <c:v>5.45</c:v>
                </c:pt>
                <c:pt idx="5">
                  <c:v>6.55</c:v>
                </c:pt>
                <c:pt idx="6">
                  <c:v>6.75</c:v>
                </c:pt>
                <c:pt idx="7">
                  <c:v>6.21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14-4E40-A2CD-1C09628A82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그래프!$B$36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그래프!$C$35:$J$35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그래프!$C$36:$J$36</c:f>
              <c:numCache>
                <c:formatCode>###0.0</c:formatCode>
                <c:ptCount val="8"/>
                <c:pt idx="0">
                  <c:v>6.79</c:v>
                </c:pt>
                <c:pt idx="1">
                  <c:v>6.69</c:v>
                </c:pt>
                <c:pt idx="2">
                  <c:v>7</c:v>
                </c:pt>
                <c:pt idx="3">
                  <c:v>6.46</c:v>
                </c:pt>
                <c:pt idx="4">
                  <c:v>7.31</c:v>
                </c:pt>
                <c:pt idx="5">
                  <c:v>7.03</c:v>
                </c:pt>
                <c:pt idx="6">
                  <c:v>7.54</c:v>
                </c:pt>
                <c:pt idx="7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555-46E6-B49B-410638831A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그래프!$B$45</c:f>
              <c:strCache>
                <c:ptCount val="1"/>
                <c:pt idx="0">
                  <c:v>2024년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그래프!$C$44:$J$44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그래프!$C$45:$J$45</c:f>
              <c:numCache>
                <c:formatCode>###0.0</c:formatCode>
                <c:ptCount val="8"/>
                <c:pt idx="0">
                  <c:v>7.8</c:v>
                </c:pt>
                <c:pt idx="1">
                  <c:v>7.1</c:v>
                </c:pt>
                <c:pt idx="2">
                  <c:v>7</c:v>
                </c:pt>
                <c:pt idx="3">
                  <c:v>6.8</c:v>
                </c:pt>
                <c:pt idx="4">
                  <c:v>7</c:v>
                </c:pt>
                <c:pt idx="5">
                  <c:v>7.8</c:v>
                </c:pt>
                <c:pt idx="6">
                  <c:v>7</c:v>
                </c:pt>
                <c:pt idx="7">
                  <c:v>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5E-4F55-9ED3-8C424FB74ABD}"/>
            </c:ext>
          </c:extLst>
        </c:ser>
        <c:ser>
          <c:idx val="1"/>
          <c:order val="1"/>
          <c:tx>
            <c:strRef>
              <c:f>그래프!$B$46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그래프!$C$44:$J$44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그래프!$C$46:$J$46</c:f>
              <c:numCache>
                <c:formatCode>0.0</c:formatCode>
                <c:ptCount val="8"/>
                <c:pt idx="0">
                  <c:v>7.33</c:v>
                </c:pt>
                <c:pt idx="1">
                  <c:v>7.24</c:v>
                </c:pt>
                <c:pt idx="2">
                  <c:v>6.95</c:v>
                </c:pt>
                <c:pt idx="3">
                  <c:v>6.48</c:v>
                </c:pt>
                <c:pt idx="4">
                  <c:v>6.38</c:v>
                </c:pt>
                <c:pt idx="5">
                  <c:v>7.24</c:v>
                </c:pt>
                <c:pt idx="6">
                  <c:v>7.14</c:v>
                </c:pt>
                <c:pt idx="7">
                  <c:v>6.57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5E-4F55-9ED3-8C424FB74A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그래프!$B$50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그래프!$C$49:$J$49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그래프!$C$50:$J$50</c:f>
              <c:numCache>
                <c:formatCode>###0.0</c:formatCode>
                <c:ptCount val="8"/>
                <c:pt idx="0">
                  <c:v>7.03</c:v>
                </c:pt>
                <c:pt idx="1">
                  <c:v>6.95</c:v>
                </c:pt>
                <c:pt idx="2">
                  <c:v>7.64</c:v>
                </c:pt>
                <c:pt idx="3">
                  <c:v>7.05</c:v>
                </c:pt>
                <c:pt idx="4">
                  <c:v>7.86</c:v>
                </c:pt>
                <c:pt idx="5">
                  <c:v>7.24</c:v>
                </c:pt>
                <c:pt idx="6">
                  <c:v>6.88</c:v>
                </c:pt>
                <c:pt idx="7">
                  <c:v>7.05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59-4F79-825F-A3CE3741FF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그래프!$B$54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그래프!$C$53:$J$53</c:f>
              <c:strCache>
                <c:ptCount val="8"/>
                <c:pt idx="0">
                  <c:v>소통에 도움</c:v>
                </c:pt>
                <c:pt idx="1">
                  <c:v>타기관 이해</c:v>
                </c:pt>
                <c:pt idx="2">
                  <c:v>법인 이해</c:v>
                </c:pt>
                <c:pt idx="3">
                  <c:v>마음의 안정</c:v>
                </c:pt>
                <c:pt idx="4">
                  <c:v>전문성 신장</c:v>
                </c:pt>
                <c:pt idx="5">
                  <c:v>근무만족도 향상</c:v>
                </c:pt>
                <c:pt idx="6">
                  <c:v>계속 운영</c:v>
                </c:pt>
                <c:pt idx="7">
                  <c:v>운영 평가</c:v>
                </c:pt>
              </c:strCache>
            </c:strRef>
          </c:cat>
          <c:val>
            <c:numRef>
              <c:f>그래프!$C$54:$J$54</c:f>
              <c:numCache>
                <c:formatCode>###0.0</c:formatCode>
                <c:ptCount val="8"/>
                <c:pt idx="0">
                  <c:v>8.67</c:v>
                </c:pt>
                <c:pt idx="1">
                  <c:v>6</c:v>
                </c:pt>
                <c:pt idx="2">
                  <c:v>7.78</c:v>
                </c:pt>
                <c:pt idx="3">
                  <c:v>7.11</c:v>
                </c:pt>
                <c:pt idx="4">
                  <c:v>5.56</c:v>
                </c:pt>
                <c:pt idx="5">
                  <c:v>6.89</c:v>
                </c:pt>
                <c:pt idx="6">
                  <c:v>6.89</c:v>
                </c:pt>
                <c:pt idx="7">
                  <c:v>7.56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38-4C2C-92E6-3BE91C8C3F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그래프!$B$58</c:f>
              <c:strCache>
                <c:ptCount val="1"/>
                <c:pt idx="0">
                  <c:v>2024년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그래프!$C$57:$V$57</c:f>
              <c:strCache>
                <c:ptCount val="20"/>
                <c:pt idx="0">
                  <c:v>N1_업무량</c:v>
                </c:pt>
                <c:pt idx="1">
                  <c:v>N2_의사결정권</c:v>
                </c:pt>
                <c:pt idx="2">
                  <c:v>N3_스트레스</c:v>
                </c:pt>
                <c:pt idx="3">
                  <c:v>N4_협력분위기</c:v>
                </c:pt>
                <c:pt idx="4">
                  <c:v>N5_상사의견수용</c:v>
                </c:pt>
                <c:pt idx="5">
                  <c:v>N6_정년까지근무</c:v>
                </c:pt>
                <c:pt idx="6">
                  <c:v>N7_보수만족</c:v>
                </c:pt>
                <c:pt idx="7">
                  <c:v>N8_상의할동료</c:v>
                </c:pt>
                <c:pt idx="8">
                  <c:v>N9_휴가사용</c:v>
                </c:pt>
                <c:pt idx="9">
                  <c:v>N10_휴게시간</c:v>
                </c:pt>
                <c:pt idx="10">
                  <c:v>N11_급식만족</c:v>
                </c:pt>
                <c:pt idx="11">
                  <c:v>N12_근무조건만족</c:v>
                </c:pt>
                <c:pt idx="12">
                  <c:v>N13_지인에추천</c:v>
                </c:pt>
                <c:pt idx="13">
                  <c:v>N14_기관발전</c:v>
                </c:pt>
                <c:pt idx="14">
                  <c:v>N15_이용인지원</c:v>
                </c:pt>
                <c:pt idx="15">
                  <c:v>N16_자기개발기회</c:v>
                </c:pt>
                <c:pt idx="16">
                  <c:v>N17_근무개선노력</c:v>
                </c:pt>
                <c:pt idx="17">
                  <c:v>N18_승진기회</c:v>
                </c:pt>
                <c:pt idx="18">
                  <c:v>N19_일에대한만족</c:v>
                </c:pt>
                <c:pt idx="19">
                  <c:v>N20_자녀에권유</c:v>
                </c:pt>
              </c:strCache>
            </c:strRef>
          </c:cat>
          <c:val>
            <c:numRef>
              <c:f>그래프!$C$58:$V$58</c:f>
              <c:numCache>
                <c:formatCode>###0.0</c:formatCode>
                <c:ptCount val="20"/>
                <c:pt idx="0">
                  <c:v>5.8</c:v>
                </c:pt>
                <c:pt idx="1">
                  <c:v>6.1</c:v>
                </c:pt>
                <c:pt idx="2">
                  <c:v>5.0999999999999996</c:v>
                </c:pt>
                <c:pt idx="3">
                  <c:v>6.8</c:v>
                </c:pt>
                <c:pt idx="4">
                  <c:v>6.8</c:v>
                </c:pt>
                <c:pt idx="5">
                  <c:v>7.3</c:v>
                </c:pt>
                <c:pt idx="6">
                  <c:v>6.3</c:v>
                </c:pt>
                <c:pt idx="7">
                  <c:v>6.8</c:v>
                </c:pt>
                <c:pt idx="8">
                  <c:v>6.6</c:v>
                </c:pt>
                <c:pt idx="9">
                  <c:v>6</c:v>
                </c:pt>
                <c:pt idx="10">
                  <c:v>7.8</c:v>
                </c:pt>
                <c:pt idx="11">
                  <c:v>6</c:v>
                </c:pt>
                <c:pt idx="12">
                  <c:v>6.3</c:v>
                </c:pt>
                <c:pt idx="13">
                  <c:v>6.7</c:v>
                </c:pt>
                <c:pt idx="14">
                  <c:v>7.8</c:v>
                </c:pt>
                <c:pt idx="15">
                  <c:v>6.4</c:v>
                </c:pt>
                <c:pt idx="16">
                  <c:v>8.1</c:v>
                </c:pt>
                <c:pt idx="17">
                  <c:v>5.7</c:v>
                </c:pt>
                <c:pt idx="18">
                  <c:v>7.4</c:v>
                </c:pt>
                <c:pt idx="19">
                  <c:v>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F6-4B6A-B3A3-A9E22D7024F9}"/>
            </c:ext>
          </c:extLst>
        </c:ser>
        <c:ser>
          <c:idx val="1"/>
          <c:order val="1"/>
          <c:tx>
            <c:strRef>
              <c:f>그래프!$B$59</c:f>
              <c:strCache>
                <c:ptCount val="1"/>
                <c:pt idx="0">
                  <c:v>2025년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그래프!$C$57:$V$57</c:f>
              <c:strCache>
                <c:ptCount val="20"/>
                <c:pt idx="0">
                  <c:v>N1_업무량</c:v>
                </c:pt>
                <c:pt idx="1">
                  <c:v>N2_의사결정권</c:v>
                </c:pt>
                <c:pt idx="2">
                  <c:v>N3_스트레스</c:v>
                </c:pt>
                <c:pt idx="3">
                  <c:v>N4_협력분위기</c:v>
                </c:pt>
                <c:pt idx="4">
                  <c:v>N5_상사의견수용</c:v>
                </c:pt>
                <c:pt idx="5">
                  <c:v>N6_정년까지근무</c:v>
                </c:pt>
                <c:pt idx="6">
                  <c:v>N7_보수만족</c:v>
                </c:pt>
                <c:pt idx="7">
                  <c:v>N8_상의할동료</c:v>
                </c:pt>
                <c:pt idx="8">
                  <c:v>N9_휴가사용</c:v>
                </c:pt>
                <c:pt idx="9">
                  <c:v>N10_휴게시간</c:v>
                </c:pt>
                <c:pt idx="10">
                  <c:v>N11_급식만족</c:v>
                </c:pt>
                <c:pt idx="11">
                  <c:v>N12_근무조건만족</c:v>
                </c:pt>
                <c:pt idx="12">
                  <c:v>N13_지인에추천</c:v>
                </c:pt>
                <c:pt idx="13">
                  <c:v>N14_기관발전</c:v>
                </c:pt>
                <c:pt idx="14">
                  <c:v>N15_이용인지원</c:v>
                </c:pt>
                <c:pt idx="15">
                  <c:v>N16_자기개발기회</c:v>
                </c:pt>
                <c:pt idx="16">
                  <c:v>N17_근무개선노력</c:v>
                </c:pt>
                <c:pt idx="17">
                  <c:v>N18_승진기회</c:v>
                </c:pt>
                <c:pt idx="18">
                  <c:v>N19_일에대한만족</c:v>
                </c:pt>
                <c:pt idx="19">
                  <c:v>N20_자녀에권유</c:v>
                </c:pt>
              </c:strCache>
            </c:strRef>
          </c:cat>
          <c:val>
            <c:numRef>
              <c:f>그래프!$C$59:$V$59</c:f>
              <c:numCache>
                <c:formatCode>###0.0</c:formatCode>
                <c:ptCount val="20"/>
                <c:pt idx="0">
                  <c:v>6.3</c:v>
                </c:pt>
                <c:pt idx="1">
                  <c:v>6.06</c:v>
                </c:pt>
                <c:pt idx="2">
                  <c:v>5.2</c:v>
                </c:pt>
                <c:pt idx="3">
                  <c:v>6.76</c:v>
                </c:pt>
                <c:pt idx="4">
                  <c:v>7.15</c:v>
                </c:pt>
                <c:pt idx="5">
                  <c:v>7.32</c:v>
                </c:pt>
                <c:pt idx="6">
                  <c:v>6.41</c:v>
                </c:pt>
                <c:pt idx="7">
                  <c:v>7.05</c:v>
                </c:pt>
                <c:pt idx="8">
                  <c:v>6.55</c:v>
                </c:pt>
                <c:pt idx="9">
                  <c:v>6.14</c:v>
                </c:pt>
                <c:pt idx="10">
                  <c:v>7.18</c:v>
                </c:pt>
                <c:pt idx="11">
                  <c:v>5.97</c:v>
                </c:pt>
                <c:pt idx="12">
                  <c:v>6.24</c:v>
                </c:pt>
                <c:pt idx="13">
                  <c:v>6.64</c:v>
                </c:pt>
                <c:pt idx="14">
                  <c:v>7.85</c:v>
                </c:pt>
                <c:pt idx="15">
                  <c:v>6.5</c:v>
                </c:pt>
                <c:pt idx="16">
                  <c:v>8.0299999999999994</c:v>
                </c:pt>
                <c:pt idx="17">
                  <c:v>5.33</c:v>
                </c:pt>
                <c:pt idx="18">
                  <c:v>7.33</c:v>
                </c:pt>
                <c:pt idx="19">
                  <c:v>4.88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F6-4B6A-B3A3-A9E22D7024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144511"/>
        <c:axId val="1102017103"/>
      </c:lineChart>
      <c:catAx>
        <c:axId val="787144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02017103"/>
        <c:crosses val="autoZero"/>
        <c:auto val="1"/>
        <c:lblAlgn val="ctr"/>
        <c:lblOffset val="100"/>
        <c:noMultiLvlLbl val="0"/>
      </c:catAx>
      <c:valAx>
        <c:axId val="1102017103"/>
        <c:scaling>
          <c:orientation val="minMax"/>
          <c:max val="10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87144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20FF2-C8E5-445E-A602-A1B2FD8E125E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A3A6B-4E68-4FE5-B527-93F726778D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4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492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55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276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671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994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576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176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693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081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1049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211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277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009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830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868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056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466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800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1316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132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0941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905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074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2738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5348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4549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BA3A6B-4E68-4FE5-B527-93F726778DC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30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0.png"/><Relationship Id="rId5" Type="http://schemas.openxmlformats.org/officeDocument/2006/relationships/image" Target="../media/image5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6.png"/><Relationship Id="rId5" Type="http://schemas.openxmlformats.org/officeDocument/2006/relationships/image" Target="../media/image5.png"/><Relationship Id="rId15" Type="http://schemas.openxmlformats.org/officeDocument/2006/relationships/image" Target="../media/image30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25.png"/><Relationship Id="rId1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31.jpe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2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1.png"/><Relationship Id="rId3" Type="http://schemas.openxmlformats.org/officeDocument/2006/relationships/image" Target="../media/image14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39.png"/><Relationship Id="rId5" Type="http://schemas.openxmlformats.org/officeDocument/2006/relationships/image" Target="../media/image35.png"/><Relationship Id="rId10" Type="http://schemas.openxmlformats.org/officeDocument/2006/relationships/image" Target="../media/image38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42.png"/><Relationship Id="rId4" Type="http://schemas.openxmlformats.org/officeDocument/2006/relationships/image" Target="../media/image15.png"/><Relationship Id="rId9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chart" Target="../charts/chart2.xml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chart" Target="../charts/chart3.xml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5.png"/><Relationship Id="rId10" Type="http://schemas.openxmlformats.org/officeDocument/2006/relationships/image" Target="../media/image42.png"/><Relationship Id="rId4" Type="http://schemas.openxmlformats.org/officeDocument/2006/relationships/image" Target="../media/image15.png"/><Relationship Id="rId9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4.png"/><Relationship Id="rId7" Type="http://schemas.openxmlformats.org/officeDocument/2006/relationships/image" Target="../media/image48.png"/><Relationship Id="rId12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47.png"/><Relationship Id="rId10" Type="http://schemas.openxmlformats.org/officeDocument/2006/relationships/image" Target="../media/image44.png"/><Relationship Id="rId4" Type="http://schemas.openxmlformats.org/officeDocument/2006/relationships/image" Target="../media/image15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12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5.png"/><Relationship Id="rId10" Type="http://schemas.openxmlformats.org/officeDocument/2006/relationships/image" Target="../media/image34.png"/><Relationship Id="rId4" Type="http://schemas.openxmlformats.org/officeDocument/2006/relationships/image" Target="../media/image15.png"/><Relationship Id="rId9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15.png"/><Relationship Id="rId9" Type="http://schemas.openxmlformats.org/officeDocument/2006/relationships/chart" Target="../charts/char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chart" Target="../charts/chart8.xml"/><Relationship Id="rId5" Type="http://schemas.openxmlformats.org/officeDocument/2006/relationships/image" Target="../media/image51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chart" Target="../charts/chart10.xml"/><Relationship Id="rId5" Type="http://schemas.openxmlformats.org/officeDocument/2006/relationships/image" Target="../media/image5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59.png"/><Relationship Id="rId5" Type="http://schemas.openxmlformats.org/officeDocument/2006/relationships/image" Target="../media/image55.png"/><Relationship Id="rId10" Type="http://schemas.openxmlformats.org/officeDocument/2006/relationships/image" Target="../media/image58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chart" Target="../charts/chart11.xml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58.png"/><Relationship Id="rId5" Type="http://schemas.openxmlformats.org/officeDocument/2006/relationships/image" Target="../media/image55.png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61.png"/><Relationship Id="rId14" Type="http://schemas.openxmlformats.org/officeDocument/2006/relationships/image" Target="../media/image6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63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5.png"/><Relationship Id="rId10" Type="http://schemas.openxmlformats.org/officeDocument/2006/relationships/image" Target="../media/image58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5.png"/><Relationship Id="rId10" Type="http://schemas.openxmlformats.org/officeDocument/2006/relationships/image" Target="../media/image64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2.png"/><Relationship Id="rId3" Type="http://schemas.openxmlformats.org/officeDocument/2006/relationships/image" Target="../media/image1.png"/><Relationship Id="rId7" Type="http://schemas.openxmlformats.org/officeDocument/2006/relationships/image" Target="../media/image68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1.png"/><Relationship Id="rId5" Type="http://schemas.openxmlformats.org/officeDocument/2006/relationships/image" Target="../media/image66.png"/><Relationship Id="rId10" Type="http://schemas.openxmlformats.org/officeDocument/2006/relationships/image" Target="../media/image70.png"/><Relationship Id="rId4" Type="http://schemas.openxmlformats.org/officeDocument/2006/relationships/image" Target="../media/image65.png"/><Relationship Id="rId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08000"/>
            <a:ext cx="4038600" cy="1092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2895600" y="1993900"/>
            <a:ext cx="18630900" cy="9969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260600"/>
            <a:ext cx="17983200" cy="944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29972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1945600" y="9550400"/>
            <a:ext cx="11684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2400000">
            <a:off x="1943100" y="10223500"/>
            <a:ext cx="18161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711700" y="12179300"/>
            <a:ext cx="11684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5011400" y="546100"/>
            <a:ext cx="1168400" cy="1104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04000" y="685800"/>
            <a:ext cx="990600" cy="185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48800" y="3162300"/>
            <a:ext cx="1651000" cy="1651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200" y="8686800"/>
            <a:ext cx="1651000" cy="165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4560000">
            <a:off x="14833600" y="11938000"/>
            <a:ext cx="1651000" cy="1651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6540000">
            <a:off x="6286500" y="457200"/>
            <a:ext cx="1447800" cy="1447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962400" y="3111500"/>
            <a:ext cx="16484600" cy="5727700"/>
          </a:xfrm>
          <a:prstGeom prst="rect">
            <a:avLst/>
          </a:prstGeom>
        </p:spPr>
        <p:txBody>
          <a:bodyPr lIns="0" tIns="220133" rIns="0" bIns="220133" rtlCol="0" anchor="ctr"/>
          <a:lstStyle/>
          <a:p>
            <a:pPr lvl="0" algn="ctr">
              <a:lnSpc>
                <a:spcPct val="99600"/>
              </a:lnSpc>
            </a:pPr>
            <a:r>
              <a:rPr lang="en-US" sz="11000" b="1" i="0" u="none" strike="noStrike" spc="-173" dirty="0">
                <a:solidFill>
                  <a:srgbClr val="FF0000"/>
                </a:solidFill>
                <a:latin typeface="+mj-ea"/>
                <a:ea typeface="+mj-ea"/>
              </a:rPr>
              <a:t>2025</a:t>
            </a:r>
            <a:r>
              <a:rPr lang="ko-KR" sz="11000" b="1" i="0" u="none" strike="noStrike" spc="-173" dirty="0">
                <a:solidFill>
                  <a:srgbClr val="FF0000"/>
                </a:solidFill>
                <a:latin typeface="+mj-ea"/>
                <a:ea typeface="+mj-ea"/>
              </a:rPr>
              <a:t>년</a:t>
            </a:r>
            <a:r>
              <a:rPr lang="en-US" sz="11000" b="1" i="0" u="none" strike="noStrike" spc="-173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11000" b="1" i="0" u="none" strike="noStrike" spc="-173" dirty="0">
                <a:solidFill>
                  <a:srgbClr val="FF0000"/>
                </a:solidFill>
                <a:latin typeface="+mj-ea"/>
                <a:ea typeface="+mj-ea"/>
              </a:rPr>
              <a:t>성장확장위원회</a:t>
            </a:r>
            <a:r>
              <a:rPr lang="en-US" sz="11000" b="1" i="0" u="none" strike="noStrike" spc="-17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</a:p>
          <a:p>
            <a:pPr lvl="0" algn="ctr">
              <a:lnSpc>
                <a:spcPct val="99600"/>
              </a:lnSpc>
            </a:pPr>
            <a:r>
              <a:rPr lang="ko-KR" sz="11000" b="1" i="0" u="none" strike="noStrike" spc="-173" dirty="0">
                <a:solidFill>
                  <a:srgbClr val="FF0000"/>
                </a:solidFill>
                <a:latin typeface="+mj-ea"/>
                <a:ea typeface="+mj-ea"/>
              </a:rPr>
              <a:t>사업</a:t>
            </a:r>
            <a:r>
              <a:rPr lang="en-US" sz="11000" b="1" i="0" u="none" strike="noStrike" spc="-173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11000" b="1" i="0" u="none" strike="noStrike" spc="-173" dirty="0">
                <a:solidFill>
                  <a:srgbClr val="FF0000"/>
                </a:solidFill>
                <a:latin typeface="+mj-ea"/>
                <a:ea typeface="+mj-ea"/>
              </a:rPr>
              <a:t>결과보고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15958" y="9723967"/>
            <a:ext cx="16027400" cy="1041400"/>
          </a:xfrm>
          <a:prstGeom prst="rect">
            <a:avLst/>
          </a:prstGeom>
        </p:spPr>
        <p:txBody>
          <a:bodyPr lIns="0" tIns="74405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5858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다하 성장확장위원회</a:t>
            </a:r>
            <a:endParaRPr lang="en-US" sz="5858" b="0" i="0" u="none" strike="noStrike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216227-C1E0-48B9-B262-2838B4C1578F}"/>
              </a:ext>
            </a:extLst>
          </p:cNvPr>
          <p:cNvSpPr txBox="1"/>
          <p:nvPr/>
        </p:nvSpPr>
        <p:spPr>
          <a:xfrm>
            <a:off x="4115958" y="8636162"/>
            <a:ext cx="16027400" cy="1041400"/>
          </a:xfrm>
          <a:prstGeom prst="rect">
            <a:avLst/>
          </a:prstGeom>
        </p:spPr>
        <p:txBody>
          <a:bodyPr lIns="0" tIns="74405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5858" b="0" i="0" u="none" strike="noStrike" dirty="0">
                <a:solidFill>
                  <a:srgbClr val="000000"/>
                </a:solidFill>
                <a:ea typeface="Nanum NeuRisNeuRisCe"/>
              </a:rPr>
              <a:t>2025. 11. 27.</a:t>
            </a:r>
            <a:endParaRPr lang="en-US" sz="5858" b="0" i="0" u="none" strike="noStrike" dirty="0">
              <a:solidFill>
                <a:srgbClr val="000000"/>
              </a:solidFill>
              <a:latin typeface="Nanum NeuRisNeuRis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2476500"/>
            <a:ext cx="20955000" cy="10096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3622000" y="127000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8000" y="2476500"/>
            <a:ext cx="20929600" cy="10121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39900" y="406400"/>
            <a:ext cx="21285200" cy="1663700"/>
          </a:xfrm>
          <a:prstGeom prst="rect">
            <a:avLst/>
          </a:prstGeom>
        </p:spPr>
        <p:txBody>
          <a:bodyPr lIns="0" tIns="118533" rIns="0" bIns="118533" rtlCol="0" anchor="ctr"/>
          <a:lstStyle/>
          <a:p>
            <a:pPr lvl="0" algn="l">
              <a:lnSpc>
                <a:spcPct val="99600"/>
              </a:lnSpc>
            </a:pPr>
            <a:r>
              <a:rPr lang="en" sz="9333" b="1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목차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24100" y="4064000"/>
            <a:ext cx="62484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운영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배경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24100" y="5143500"/>
            <a:ext cx="6845300" cy="2133600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기관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규모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확대와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업무스트레스</a:t>
            </a:r>
          </a:p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직원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역량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및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협력</a:t>
            </a:r>
            <a:r>
              <a:rPr lang="en-US" altLang="ko-KR" sz="3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강화</a:t>
            </a:r>
            <a:r>
              <a:rPr lang="en-US" altLang="ko-KR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필요성</a:t>
            </a:r>
          </a:p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서비스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질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향상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방안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63102" y="4070350"/>
            <a:ext cx="62484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사업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목표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8938" y="5143500"/>
            <a:ext cx="619760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법인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비전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공유</a:t>
            </a:r>
          </a:p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직원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전문성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강화</a:t>
            </a:r>
          </a:p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협력적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조직문화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형성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14700" y="4064000"/>
            <a:ext cx="62484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조직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구성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14700" y="5143500"/>
            <a:ext cx="619760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위원회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구성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체계</a:t>
            </a:r>
          </a:p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 err="1">
                <a:solidFill>
                  <a:srgbClr val="000000"/>
                </a:solidFill>
                <a:latin typeface="+mn-ea"/>
              </a:rPr>
              <a:t>분과별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운영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현황</a:t>
            </a:r>
          </a:p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실무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담당자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역할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24100" y="8585200"/>
            <a:ext cx="62484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주요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사업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영역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4100" y="9664700"/>
            <a:ext cx="710565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교류</a:t>
            </a:r>
            <a:r>
              <a:rPr lang="en-US" altLang="ko-KR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3600" b="0" i="0" u="none" strike="noStrike" dirty="0">
                <a:solidFill>
                  <a:srgbClr val="000000"/>
                </a:solidFill>
                <a:latin typeface="+mn-ea"/>
              </a:rPr>
              <a:t>및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힐링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프로그램</a:t>
            </a:r>
          </a:p>
          <a:p>
            <a:pPr lvl="0">
              <a:lnSpc>
                <a:spcPct val="116199"/>
              </a:lnSpc>
            </a:pPr>
            <a:r>
              <a:rPr lang="en-US" altLang="ko-KR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동아리</a:t>
            </a:r>
            <a:r>
              <a:rPr lang="en-US" altLang="ko-KR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3600" b="0" i="0" u="none" strike="noStrike" dirty="0">
                <a:solidFill>
                  <a:srgbClr val="000000"/>
                </a:solidFill>
                <a:latin typeface="+mn-ea"/>
              </a:rPr>
              <a:t>및 역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량강화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교육</a:t>
            </a:r>
          </a:p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체육대회</a:t>
            </a:r>
            <a:r>
              <a:rPr lang="en-US" altLang="ko-KR" sz="36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합창단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50132" y="8579971"/>
            <a:ext cx="62484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5333" b="1" i="0" u="none" strike="noStrike" dirty="0">
                <a:solidFill>
                  <a:srgbClr val="FF0000"/>
                </a:solidFill>
                <a:latin typeface="+mn-ea"/>
              </a:rPr>
              <a:t>사업 평가</a:t>
            </a:r>
            <a:endParaRPr lang="ko-KR" sz="5333" b="1" i="0" u="none" strike="noStrike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442450" y="9587006"/>
            <a:ext cx="619760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600" b="1" dirty="0">
                <a:solidFill>
                  <a:srgbClr val="FF0000"/>
                </a:solidFill>
                <a:latin typeface="+mn-ea"/>
              </a:rPr>
              <a:t>1. </a:t>
            </a:r>
            <a:r>
              <a:rPr lang="ko-KR" sz="3600" b="1" i="0" u="none" strike="noStrike" dirty="0">
                <a:solidFill>
                  <a:srgbClr val="FF0000"/>
                </a:solidFill>
                <a:latin typeface="+mn-ea"/>
              </a:rPr>
              <a:t>프로그램별</a:t>
            </a:r>
            <a:r>
              <a:rPr lang="en-US" sz="36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600" b="1" i="0" u="none" strike="noStrike" dirty="0">
                <a:solidFill>
                  <a:srgbClr val="FF0000"/>
                </a:solidFill>
                <a:latin typeface="+mn-ea"/>
              </a:rPr>
              <a:t>만족도</a:t>
            </a:r>
            <a:r>
              <a:rPr lang="en-US" sz="36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3600" b="1" i="0" u="none" strike="noStrike" dirty="0">
                <a:solidFill>
                  <a:srgbClr val="FF0000"/>
                </a:solidFill>
                <a:latin typeface="+mn-ea"/>
              </a:rPr>
              <a:t>평가</a:t>
            </a:r>
            <a:endParaRPr lang="ko-KR" sz="3600" b="1" i="0" u="none" strike="noStrike" dirty="0">
              <a:solidFill>
                <a:srgbClr val="FF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sz="3600" b="1" i="0" u="none" strike="noStrike" dirty="0">
                <a:solidFill>
                  <a:srgbClr val="FF0000"/>
                </a:solidFill>
                <a:latin typeface="+mn-ea"/>
              </a:rPr>
              <a:t>2. </a:t>
            </a:r>
            <a:r>
              <a:rPr lang="ko-KR" sz="3600" b="1" i="0" u="none" strike="noStrike" dirty="0">
                <a:solidFill>
                  <a:srgbClr val="FF0000"/>
                </a:solidFill>
                <a:latin typeface="+mn-ea"/>
              </a:rPr>
              <a:t>직원</a:t>
            </a:r>
            <a:r>
              <a:rPr lang="en-US" sz="36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3600" b="1" i="0" u="none" strike="noStrike" dirty="0">
                <a:solidFill>
                  <a:srgbClr val="FF0000"/>
                </a:solidFill>
                <a:latin typeface="+mn-ea"/>
              </a:rPr>
              <a:t>근무</a:t>
            </a:r>
            <a:r>
              <a:rPr lang="ko-KR" sz="3600" b="1" i="0" u="none" strike="noStrike" dirty="0">
                <a:solidFill>
                  <a:srgbClr val="FF0000"/>
                </a:solidFill>
                <a:latin typeface="+mn-ea"/>
              </a:rPr>
              <a:t>만족도</a:t>
            </a:r>
            <a:r>
              <a:rPr lang="en-US" sz="36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3600" b="1" i="0" u="none" strike="noStrike" dirty="0">
                <a:solidFill>
                  <a:srgbClr val="FF0000"/>
                </a:solidFill>
                <a:latin typeface="+mn-ea"/>
              </a:rPr>
              <a:t>평가</a:t>
            </a:r>
            <a:endParaRPr lang="ko-KR" sz="3600" b="1" i="0" u="none" strike="noStrike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014700" y="8585200"/>
            <a:ext cx="62484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향후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방향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14700" y="9664700"/>
            <a:ext cx="619760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유지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및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개편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필요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사업</a:t>
            </a:r>
          </a:p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프로그램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체계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표준화</a:t>
            </a:r>
          </a:p>
          <a:p>
            <a:pPr lvl="0" algn="l">
              <a:lnSpc>
                <a:spcPct val="116199"/>
              </a:lnSpc>
            </a:pP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직무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연계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강화</a:t>
            </a:r>
            <a:r>
              <a:rPr lang="en-US" sz="36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+mn-ea"/>
              </a:rPr>
              <a:t>방안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7000" y="2946400"/>
            <a:ext cx="5981700" cy="4076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4800" y="2946400"/>
            <a:ext cx="5981700" cy="4076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35300" y="2946400"/>
            <a:ext cx="5981700" cy="4076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000000"/>
                </a:solidFill>
                <a:latin typeface="+mj-ea"/>
                <a:ea typeface="+mj-ea"/>
              </a:rPr>
              <a:t>운영</a:t>
            </a:r>
            <a:r>
              <a:rPr lang="en-US" sz="3999" b="1" i="0" u="none" strike="noStrike" spc="16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000000"/>
                </a:solidFill>
                <a:latin typeface="+mj-ea"/>
                <a:ea typeface="+mj-ea"/>
              </a:rPr>
              <a:t>배경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67000" y="7023100"/>
            <a:ext cx="5981700" cy="4673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997200" y="8039100"/>
            <a:ext cx="54991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기관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현황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40868" y="8900085"/>
            <a:ext cx="5730032" cy="2374900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16199"/>
              </a:lnSpc>
            </a:pP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기관</a:t>
            </a:r>
            <a:r>
              <a:rPr lang="ko-KR" altLang="en-US" dirty="0"/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규모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확대로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인한조직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변화</a:t>
            </a:r>
          </a:p>
          <a:p>
            <a:pPr>
              <a:lnSpc>
                <a:spcPct val="116199"/>
              </a:lnSpc>
            </a:pPr>
            <a:endParaRPr lang="ko-KR" altLang="en-US" dirty="0"/>
          </a:p>
          <a:p>
            <a:pPr lvl="0">
              <a:lnSpc>
                <a:spcPct val="116199"/>
              </a:lnSpc>
            </a:pPr>
            <a:r>
              <a:rPr lang="en-US" altLang="ko-KR" sz="2800" b="0" i="0" u="none" strike="noStrike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부서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간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소통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채널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감소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직원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간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교류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기회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부족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업무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효율성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저하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4800" y="7023100"/>
            <a:ext cx="5981700" cy="4673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525000" y="8039100"/>
            <a:ext cx="54991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en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문제점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25000" y="9004300"/>
            <a:ext cx="5448300" cy="2374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중증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이용인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지원으로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인한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업무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   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부담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증가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직원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스트레스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수준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상승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소진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(burnout)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위험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증가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조직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소통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부재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735300" y="7023100"/>
            <a:ext cx="5981700" cy="4673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6065500" y="8039100"/>
            <a:ext cx="54991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4666" b="1" dirty="0">
                <a:solidFill>
                  <a:srgbClr val="FF0000"/>
                </a:solidFill>
                <a:latin typeface="+mj-ea"/>
                <a:ea typeface="+mj-ea"/>
              </a:rPr>
              <a:t>보완 사항</a:t>
            </a:r>
            <a:endParaRPr lang="ko-KR" sz="4666" b="1" i="0" u="none" strike="noStrike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065500" y="9004300"/>
            <a:ext cx="5448300" cy="2374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- </a:t>
            </a:r>
            <a:r>
              <a:rPr lang="en-US" altLang="ko-KR" sz="2800" b="1" i="0" u="none" strike="noStrike" dirty="0">
                <a:solidFill>
                  <a:srgbClr val="FF0000"/>
                </a:solidFill>
                <a:latin typeface="+mn-ea"/>
              </a:rPr>
              <a:t>ICT program</a:t>
            </a:r>
            <a:r>
              <a:rPr lang="ko-KR" altLang="en-US" sz="2800" b="1" i="0" u="none" strike="noStrike" dirty="0">
                <a:solidFill>
                  <a:srgbClr val="FF0000"/>
                </a:solidFill>
                <a:latin typeface="+mn-ea"/>
              </a:rPr>
              <a:t>강화</a:t>
            </a:r>
            <a:endParaRPr lang="ko-KR" sz="2800" b="1" i="0" u="none" strike="noStrike" dirty="0">
              <a:solidFill>
                <a:srgbClr val="FF000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2800" b="1" dirty="0" err="1">
                <a:solidFill>
                  <a:srgbClr val="FF0000"/>
                </a:solidFill>
                <a:latin typeface="+mn-ea"/>
              </a:rPr>
              <a:t>직능별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 연수 강화</a:t>
            </a:r>
            <a:endParaRPr lang="en-US" altLang="ko-KR" sz="2800" b="1" dirty="0">
              <a:solidFill>
                <a:srgbClr val="FF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2800" b="1" i="0" u="none" strike="noStrike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2800" b="1" i="0" u="none" strike="noStrike" dirty="0">
                <a:solidFill>
                  <a:srgbClr val="FF0000"/>
                </a:solidFill>
                <a:latin typeface="+mn-ea"/>
              </a:rPr>
              <a:t>참여시 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근무</a:t>
            </a:r>
            <a:r>
              <a:rPr lang="ko-KR" altLang="en-US" sz="2800" b="1" i="0" u="none" strike="noStrike" dirty="0">
                <a:solidFill>
                  <a:srgbClr val="FF0000"/>
                </a:solidFill>
                <a:latin typeface="+mn-ea"/>
              </a:rPr>
              <a:t> 보장 강화</a:t>
            </a:r>
            <a:endParaRPr lang="en-US" altLang="ko-KR" sz="2800" b="1" i="0" u="none" strike="noStrike" dirty="0">
              <a:solidFill>
                <a:srgbClr val="FF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2800" b="1" i="0" u="none" strike="noStrike" dirty="0" err="1">
                <a:solidFill>
                  <a:srgbClr val="FF0000"/>
                </a:solidFill>
                <a:latin typeface="+mn-ea"/>
              </a:rPr>
              <a:t>다하</a:t>
            </a:r>
            <a:r>
              <a:rPr lang="ko-KR" altLang="en-US" sz="2800" b="1" dirty="0" err="1">
                <a:solidFill>
                  <a:srgbClr val="FF0000"/>
                </a:solidFill>
                <a:latin typeface="+mn-ea"/>
              </a:rPr>
              <a:t>합창단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 운영</a:t>
            </a:r>
            <a:endParaRPr lang="en-US" altLang="ko-KR" sz="2800" b="1" dirty="0">
              <a:solidFill>
                <a:srgbClr val="FF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2800" b="1" i="0" u="none" strike="noStrike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역량강화 강화</a:t>
            </a:r>
            <a:endParaRPr lang="ko-KR" sz="2800" b="1" i="0" u="none" strike="noStrike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66100" y="9321800"/>
            <a:ext cx="4597400" cy="4597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1600" y="5727700"/>
            <a:ext cx="6159500" cy="575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1300" y="5727700"/>
            <a:ext cx="6159500" cy="5753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33700" y="5727700"/>
            <a:ext cx="6159500" cy="5753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000000"/>
                </a:solidFill>
                <a:latin typeface="+mj-ea"/>
                <a:ea typeface="+mj-ea"/>
              </a:rPr>
              <a:t>사업</a:t>
            </a:r>
            <a:r>
              <a:rPr lang="en-US" sz="3999" b="1" i="0" u="none" strike="noStrike" spc="16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000000"/>
                </a:solidFill>
                <a:latin typeface="+mj-ea"/>
                <a:ea typeface="+mj-ea"/>
              </a:rPr>
              <a:t>목표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41600" y="3543300"/>
            <a:ext cx="6159500" cy="1384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603500" y="3594100"/>
            <a:ext cx="6197600" cy="1181100"/>
          </a:xfrm>
          <a:prstGeom prst="rect">
            <a:avLst/>
          </a:prstGeom>
        </p:spPr>
        <p:txBody>
          <a:bodyPr lIns="0" tIns="84665" rIns="0" bIns="84665" rtlCol="0" anchor="ctr"/>
          <a:lstStyle/>
          <a:p>
            <a:pPr lvl="0" algn="ctr">
              <a:lnSpc>
                <a:spcPct val="99600"/>
              </a:lnSpc>
            </a:pPr>
            <a:r>
              <a:rPr lang="ko-KR" sz="6666" b="1" i="0" u="none" strike="noStrike" spc="-67" dirty="0">
                <a:solidFill>
                  <a:srgbClr val="FF0000"/>
                </a:solidFill>
                <a:latin typeface="+mj-ea"/>
                <a:ea typeface="+mj-ea"/>
              </a:rPr>
              <a:t>비전</a:t>
            </a:r>
            <a:r>
              <a:rPr lang="en-US" sz="6666" b="1" i="0" u="none" strike="noStrike" spc="-67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6666" b="1" i="0" u="none" strike="noStrike" spc="-67" dirty="0">
                <a:solidFill>
                  <a:srgbClr val="FF0000"/>
                </a:solidFill>
                <a:latin typeface="+mj-ea"/>
                <a:ea typeface="+mj-ea"/>
              </a:rPr>
              <a:t>공유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18600" y="3543300"/>
            <a:ext cx="6159500" cy="13843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080500" y="3594100"/>
            <a:ext cx="6197600" cy="1181100"/>
          </a:xfrm>
          <a:prstGeom prst="rect">
            <a:avLst/>
          </a:prstGeom>
        </p:spPr>
        <p:txBody>
          <a:bodyPr lIns="0" tIns="84665" rIns="0" bIns="84665" rtlCol="0" anchor="ctr"/>
          <a:lstStyle/>
          <a:p>
            <a:pPr lvl="0" algn="ctr">
              <a:lnSpc>
                <a:spcPct val="99600"/>
              </a:lnSpc>
            </a:pPr>
            <a:r>
              <a:rPr lang="ko-KR" sz="6666" b="1" i="0" u="none" strike="noStrike" spc="-67" dirty="0">
                <a:solidFill>
                  <a:srgbClr val="FF0000"/>
                </a:solidFill>
                <a:latin typeface="+mj-ea"/>
                <a:ea typeface="+mj-ea"/>
              </a:rPr>
              <a:t>전문성</a:t>
            </a:r>
            <a:r>
              <a:rPr lang="en-US" sz="6666" b="1" i="0" u="none" strike="noStrike" spc="-67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6666" b="1" i="0" u="none" strike="noStrike" spc="-67" dirty="0">
                <a:solidFill>
                  <a:srgbClr val="FF0000"/>
                </a:solidFill>
                <a:latin typeface="+mj-ea"/>
                <a:ea typeface="+mj-ea"/>
              </a:rPr>
              <a:t>강화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633700" y="3543300"/>
            <a:ext cx="6159500" cy="13843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5595600" y="3594100"/>
            <a:ext cx="6197600" cy="1181100"/>
          </a:xfrm>
          <a:prstGeom prst="rect">
            <a:avLst/>
          </a:prstGeom>
        </p:spPr>
        <p:txBody>
          <a:bodyPr lIns="0" tIns="84665" rIns="0" bIns="84665" rtlCol="0" anchor="ctr"/>
          <a:lstStyle/>
          <a:p>
            <a:pPr lvl="0" algn="ctr">
              <a:lnSpc>
                <a:spcPct val="99600"/>
              </a:lnSpc>
            </a:pPr>
            <a:r>
              <a:rPr lang="ko-KR" sz="6666" b="1" i="0" u="none" strike="noStrike" spc="-67" dirty="0">
                <a:solidFill>
                  <a:srgbClr val="FF0000"/>
                </a:solidFill>
                <a:latin typeface="+mj-ea"/>
                <a:ea typeface="+mj-ea"/>
              </a:rPr>
              <a:t>조직문화</a:t>
            </a:r>
            <a:r>
              <a:rPr lang="en-US" sz="6666" b="1" i="0" u="none" strike="noStrike" spc="-67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6666" b="1" i="0" u="none" strike="noStrike" spc="-67" dirty="0">
                <a:solidFill>
                  <a:srgbClr val="FF0000"/>
                </a:solidFill>
                <a:latin typeface="+mj-ea"/>
                <a:ea typeface="+mj-ea"/>
              </a:rPr>
              <a:t>개선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76500" y="6731000"/>
            <a:ext cx="6438900" cy="355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법인의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핵심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가치와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비전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명확화</a:t>
            </a:r>
          </a:p>
          <a:p>
            <a:pPr marL="457200" lvl="0" indent="-457200" algn="ctr">
              <a:lnSpc>
                <a:spcPct val="116199"/>
              </a:lnSpc>
              <a:buFontTx/>
              <a:buChar char="-"/>
            </a:pP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전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직원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대상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비전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공유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</a:p>
          <a:p>
            <a:pPr lvl="0" algn="ctr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워크숍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실시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부서별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비전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실행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계획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수립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비전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중심의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업무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방향성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확립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직원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소속감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및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정체성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강화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15400" y="6807200"/>
            <a:ext cx="6680200" cy="355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200" b="0" i="0" u="none" strike="noStrike" dirty="0" err="1">
                <a:solidFill>
                  <a:srgbClr val="000000"/>
                </a:solidFill>
                <a:latin typeface="+mn-ea"/>
              </a:rPr>
              <a:t>직무별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맞춤형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교육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프로그램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개발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외부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전문가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초청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연수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확대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디지털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역량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교육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신규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도입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200" b="0" i="0" u="none" strike="noStrike" dirty="0" err="1">
                <a:solidFill>
                  <a:srgbClr val="000000"/>
                </a:solidFill>
                <a:latin typeface="+mn-ea"/>
              </a:rPr>
              <a:t>직능별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워크샵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운영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개선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자기계발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지원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체계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+mn-ea"/>
              </a:rPr>
              <a:t>구축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316200" y="6934200"/>
            <a:ext cx="6553200" cy="35560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협력적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조직문화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형성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촉진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부서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간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소통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채널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다양화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직원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참여형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의사결정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구조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확립</a:t>
            </a:r>
            <a:r>
              <a:rPr lang="en-US" altLang="ko-KR" sz="3200" b="0" i="0" u="none" strike="noStrike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3200" b="0" i="0" u="none" strike="noStrike" dirty="0">
                <a:solidFill>
                  <a:srgbClr val="FF0000"/>
                </a:solidFill>
                <a:latin typeface="+mn-ea"/>
              </a:rPr>
              <a:t>설문조사 및 결과반영</a:t>
            </a:r>
            <a:r>
              <a:rPr lang="en-US" altLang="ko-KR" sz="3200" b="0" i="0" u="none" strike="noStrike" dirty="0">
                <a:solidFill>
                  <a:srgbClr val="FF0000"/>
                </a:solidFill>
                <a:latin typeface="+mn-ea"/>
              </a:rPr>
              <a:t>)</a:t>
            </a:r>
            <a:endParaRPr lang="ko-KR" sz="3200" b="0" i="0" u="none" strike="noStrike" dirty="0">
              <a:solidFill>
                <a:srgbClr val="FF000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직원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행복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증진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프로그램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운영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-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건강한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조직문화</a:t>
            </a:r>
            <a:r>
              <a:rPr lang="en-US" sz="32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200" b="0" i="0" u="none" strike="noStrike" dirty="0">
                <a:solidFill>
                  <a:srgbClr val="FF0000"/>
                </a:solidFill>
                <a:latin typeface="+mn-ea"/>
              </a:rPr>
              <a:t>정착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66100" y="9321800"/>
            <a:ext cx="4597400" cy="4597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000000"/>
                </a:solidFill>
                <a:latin typeface="+mj-ea"/>
                <a:ea typeface="+mj-ea"/>
              </a:rPr>
              <a:t>사업</a:t>
            </a:r>
            <a:r>
              <a:rPr lang="en-US" sz="3999" b="1" i="0" u="none" strike="noStrike" spc="16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3999" b="1" spc="160" dirty="0">
                <a:solidFill>
                  <a:srgbClr val="000000"/>
                </a:solidFill>
                <a:latin typeface="+mj-ea"/>
                <a:ea typeface="+mj-ea"/>
              </a:rPr>
              <a:t>활성화를 위한 중</a:t>
            </a:r>
            <a:r>
              <a:rPr lang="en-US" altLang="ko-KR" sz="3999" b="1" spc="160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3999" b="1" spc="160" dirty="0">
                <a:solidFill>
                  <a:srgbClr val="000000"/>
                </a:solidFill>
                <a:latin typeface="+mj-ea"/>
                <a:ea typeface="+mj-ea"/>
              </a:rPr>
              <a:t>장기 계획</a:t>
            </a:r>
            <a:endParaRPr lang="ko-KR" sz="3999" b="1" i="0" u="none" strike="noStrike" spc="16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23" name="Picture 1">
            <a:extLst>
              <a:ext uri="{FF2B5EF4-FFF2-40B4-BE49-F238E27FC236}">
                <a16:creationId xmlns:a16="http://schemas.microsoft.com/office/drawing/2014/main" id="{130E0464-82DC-45E8-AAE1-316C8A13EC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5418794" y="2678044"/>
            <a:ext cx="13293069" cy="79162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7B1FD1-EE3D-4BA0-976C-A086C0803C2D}"/>
              </a:ext>
            </a:extLst>
          </p:cNvPr>
          <p:cNvSpPr/>
          <p:nvPr/>
        </p:nvSpPr>
        <p:spPr>
          <a:xfrm>
            <a:off x="7062523" y="10972800"/>
            <a:ext cx="12978077" cy="72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 latinLnBrk="1">
              <a:lnSpc>
                <a:spcPct val="160000"/>
              </a:lnSpc>
            </a:pPr>
            <a:r>
              <a:rPr lang="en-US" altLang="ko-KR" sz="3000" b="1" kern="0" dirty="0" err="1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출발</a:t>
            </a:r>
            <a:r>
              <a:rPr lang="en-US" altLang="ko-KR" sz="3000" b="1" kern="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(2023) ---&gt; </a:t>
            </a:r>
            <a:r>
              <a:rPr lang="en-US" altLang="ko-KR" sz="3000" b="1" kern="0" dirty="0" err="1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발전</a:t>
            </a:r>
            <a:r>
              <a:rPr lang="en-US" altLang="ko-KR" sz="3000" b="1" kern="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(2024) ---&gt; </a:t>
            </a:r>
            <a:r>
              <a:rPr lang="en-US" altLang="ko-KR" sz="3000" b="1" kern="0" dirty="0" err="1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도약</a:t>
            </a:r>
            <a:r>
              <a:rPr lang="en-US" altLang="ko-KR" sz="3000" b="1" kern="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(2025) ---&gt; </a:t>
            </a:r>
            <a:r>
              <a:rPr lang="en-US" altLang="ko-KR" sz="3000" b="1" kern="0" dirty="0" err="1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정착</a:t>
            </a:r>
            <a:r>
              <a:rPr lang="en-US" altLang="ko-KR" sz="3000" b="1" kern="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(2026)</a:t>
            </a:r>
            <a:endParaRPr lang="en-US" altLang="ko-KR" sz="3000" b="1" kern="0" dirty="0">
              <a:solidFill>
                <a:srgbClr val="000000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9382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94435" y="2752621"/>
            <a:ext cx="8204200" cy="950520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>
                <a:solidFill>
                  <a:srgbClr val="000000"/>
                </a:solidFill>
                <a:ea typeface="Nanum NeuRisNeuRisCe"/>
              </a:rPr>
              <a:t>조직</a:t>
            </a:r>
            <a:r>
              <a:rPr lang="en-US" sz="3999" b="1" i="0" u="none" strike="noStrike" spc="160">
                <a:solidFill>
                  <a:srgbClr val="000000"/>
                </a:solidFill>
                <a:latin typeface="Nanum NeuRisNeuRisCe"/>
              </a:rPr>
              <a:t> </a:t>
            </a:r>
            <a:r>
              <a:rPr lang="ko-KR" sz="3999" b="1" i="0" u="none" strike="noStrike" spc="160">
                <a:solidFill>
                  <a:srgbClr val="000000"/>
                </a:solidFill>
                <a:ea typeface="Nanum NeuRisNeuRisCe"/>
              </a:rPr>
              <a:t>구성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31136" y="2791251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분과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운영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48435" y="4058208"/>
            <a:ext cx="8204200" cy="8095185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200" dirty="0">
                <a:solidFill>
                  <a:srgbClr val="000000"/>
                </a:solidFill>
                <a:latin typeface="+mn-ea"/>
              </a:rPr>
              <a:t>신입직원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OT: 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법인 이혜영 책임</a:t>
            </a:r>
            <a:endParaRPr lang="ko-KR" sz="3200" b="0" i="0" u="none" strike="noStrike" dirty="0">
              <a:solidFill>
                <a:srgbClr val="0070C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3200" b="0" i="0" u="none" strike="noStrike" dirty="0">
                <a:solidFill>
                  <a:srgbClr val="000000"/>
                </a:solidFill>
                <a:latin typeface="+mn-ea"/>
              </a:rPr>
              <a:t>동아리활동</a:t>
            </a:r>
            <a:r>
              <a:rPr lang="en-US" sz="32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3200" b="0" i="0" u="none" strike="noStrike" dirty="0" err="1">
                <a:solidFill>
                  <a:srgbClr val="0070C0"/>
                </a:solidFill>
                <a:latin typeface="+mn-ea"/>
              </a:rPr>
              <a:t>사하의집</a:t>
            </a:r>
            <a:r>
              <a:rPr lang="ko-KR" altLang="en-US" sz="3200" b="0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3200" b="0" i="0" u="none" strike="noStrike" dirty="0" err="1">
                <a:solidFill>
                  <a:srgbClr val="0070C0"/>
                </a:solidFill>
                <a:latin typeface="+mn-ea"/>
              </a:rPr>
              <a:t>우용호</a:t>
            </a:r>
            <a:r>
              <a:rPr lang="ko-KR" altLang="en-US" sz="3200" b="0" i="0" u="none" strike="noStrike" dirty="0">
                <a:solidFill>
                  <a:srgbClr val="0070C0"/>
                </a:solidFill>
                <a:latin typeface="+mn-ea"/>
              </a:rPr>
              <a:t> 과장</a:t>
            </a:r>
            <a:endParaRPr lang="en-US" altLang="ko-KR" sz="3200" b="0" i="0" u="none" strike="noStrike" dirty="0">
              <a:solidFill>
                <a:srgbClr val="0070C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3200" dirty="0" err="1">
                <a:solidFill>
                  <a:srgbClr val="000000"/>
                </a:solidFill>
                <a:latin typeface="+mn-ea"/>
              </a:rPr>
              <a:t>힐링체험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altLang="en-US" sz="3200" dirty="0" err="1">
                <a:solidFill>
                  <a:srgbClr val="0070C0"/>
                </a:solidFill>
                <a:latin typeface="+mn-ea"/>
              </a:rPr>
              <a:t>세하단기보호센터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3200" dirty="0" err="1">
                <a:solidFill>
                  <a:srgbClr val="0070C0"/>
                </a:solidFill>
                <a:latin typeface="+mn-ea"/>
              </a:rPr>
              <a:t>고은예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 과장</a:t>
            </a:r>
            <a:endParaRPr lang="en-US" altLang="ko-KR" sz="3200" dirty="0">
              <a:solidFill>
                <a:srgbClr val="0070C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3200" dirty="0" err="1">
                <a:solidFill>
                  <a:srgbClr val="000000"/>
                </a:solidFill>
                <a:latin typeface="+mn-ea"/>
              </a:rPr>
              <a:t>힐링워크샵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altLang="en-US" sz="3200" dirty="0" err="1">
                <a:solidFill>
                  <a:srgbClr val="0070C0"/>
                </a:solidFill>
                <a:latin typeface="+mn-ea"/>
              </a:rPr>
              <a:t>다하주간이용센터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3200" dirty="0" err="1">
                <a:solidFill>
                  <a:srgbClr val="0070C0"/>
                </a:solidFill>
                <a:latin typeface="+mn-ea"/>
              </a:rPr>
              <a:t>구영숙과장</a:t>
            </a:r>
            <a:endParaRPr lang="en-US" altLang="ko-KR" sz="3200" dirty="0">
              <a:solidFill>
                <a:srgbClr val="0070C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dirty="0" err="1">
                <a:solidFill>
                  <a:srgbClr val="000000"/>
                </a:solidFill>
                <a:latin typeface="+mn-ea"/>
              </a:rPr>
              <a:t>힐링캠프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altLang="en-US" sz="3200" dirty="0" err="1">
                <a:solidFill>
                  <a:srgbClr val="0070C0"/>
                </a:solidFill>
                <a:latin typeface="+mn-ea"/>
              </a:rPr>
              <a:t>세하의집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 김민정 국장</a:t>
            </a:r>
            <a:endParaRPr lang="en-US" altLang="ko-KR" sz="3200" dirty="0">
              <a:solidFill>
                <a:srgbClr val="0070C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dirty="0">
                <a:solidFill>
                  <a:srgbClr val="000000"/>
                </a:solidFill>
                <a:latin typeface="+mn-ea"/>
              </a:rPr>
              <a:t>한마음체육대회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3200" dirty="0" err="1">
                <a:solidFill>
                  <a:srgbClr val="0070C0"/>
                </a:solidFill>
                <a:latin typeface="+mn-ea"/>
              </a:rPr>
              <a:t>사하의집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 박미숙 국장</a:t>
            </a:r>
            <a:endParaRPr lang="ko-KR" altLang="ko-KR" sz="3200" dirty="0">
              <a:solidFill>
                <a:srgbClr val="0070C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dirty="0" err="1">
                <a:solidFill>
                  <a:srgbClr val="000000"/>
                </a:solidFill>
                <a:latin typeface="+mn-ea"/>
              </a:rPr>
              <a:t>직능별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+mn-ea"/>
              </a:rPr>
              <a:t>워크샵 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3200" dirty="0" err="1">
                <a:solidFill>
                  <a:srgbClr val="0070C0"/>
                </a:solidFill>
                <a:latin typeface="+mn-ea"/>
              </a:rPr>
              <a:t>사하의집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 박미숙 국장</a:t>
            </a:r>
            <a:endParaRPr lang="en-US" altLang="ko-KR" sz="3200" dirty="0">
              <a:solidFill>
                <a:srgbClr val="0070C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dirty="0">
                <a:solidFill>
                  <a:srgbClr val="000000"/>
                </a:solidFill>
                <a:latin typeface="+mn-ea"/>
              </a:rPr>
              <a:t>전문가초청연수 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법인 이혜영 책임</a:t>
            </a:r>
            <a:br>
              <a:rPr lang="en-US" altLang="ko-KR" sz="3200" dirty="0">
                <a:solidFill>
                  <a:srgbClr val="000000"/>
                </a:solidFill>
                <a:latin typeface="+mn-ea"/>
              </a:rPr>
            </a:br>
            <a:r>
              <a:rPr lang="ko-KR" altLang="en-US" sz="3200" dirty="0">
                <a:solidFill>
                  <a:srgbClr val="000000"/>
                </a:solidFill>
                <a:latin typeface="+mn-ea"/>
              </a:rPr>
              <a:t>디지털역량강화교육 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3200" dirty="0" err="1">
                <a:solidFill>
                  <a:srgbClr val="0070C0"/>
                </a:solidFill>
                <a:latin typeface="+mn-ea"/>
              </a:rPr>
              <a:t>이하의집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 한명숙 국장</a:t>
            </a:r>
            <a:endParaRPr lang="en-US" altLang="ko-KR" sz="3200" dirty="0">
              <a:solidFill>
                <a:srgbClr val="0070C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dirty="0" err="1">
                <a:solidFill>
                  <a:srgbClr val="000000"/>
                </a:solidFill>
                <a:latin typeface="+mn-ea"/>
              </a:rPr>
              <a:t>사례나눔</a:t>
            </a:r>
            <a:r>
              <a:rPr lang="ko-KR" altLang="en-US" sz="32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:</a:t>
            </a:r>
            <a:r>
              <a:rPr lang="ko-KR" altLang="en-US" sz="32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청암학교 김선웅 교감 </a:t>
            </a:r>
            <a:endParaRPr lang="en-US" altLang="ko-KR" sz="3200" dirty="0">
              <a:solidFill>
                <a:srgbClr val="0070C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ko-KR" altLang="en-US" sz="3200" dirty="0">
                <a:solidFill>
                  <a:srgbClr val="000000"/>
                </a:solidFill>
                <a:latin typeface="+mn-ea"/>
              </a:rPr>
              <a:t>다하 합창단</a:t>
            </a:r>
            <a:r>
              <a:rPr lang="en-US" altLang="ko-KR" sz="32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3200" dirty="0" err="1">
                <a:solidFill>
                  <a:srgbClr val="0070C0"/>
                </a:solidFill>
                <a:latin typeface="+mn-ea"/>
              </a:rPr>
              <a:t>다하주간이용센터</a:t>
            </a:r>
            <a:r>
              <a:rPr lang="ko-KR" altLang="en-US" sz="3200" dirty="0">
                <a:solidFill>
                  <a:srgbClr val="0070C0"/>
                </a:solidFill>
                <a:latin typeface="+mn-ea"/>
              </a:rPr>
              <a:t> 구영숙 과장</a:t>
            </a:r>
            <a:endParaRPr lang="ko-KR" altLang="ko-KR" sz="3200" dirty="0">
              <a:solidFill>
                <a:srgbClr val="0070C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endParaRPr lang="ko-KR" sz="2800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endParaRPr lang="ko-KR" sz="2800" b="0" i="0" u="none" strike="noStrike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A9689978-64B6-42A8-8A3E-E274F1E9C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6733" y="3114706"/>
            <a:ext cx="35403399" cy="7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34D2703-F8D3-4AF3-BDF7-6478E7F77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986502"/>
              </p:ext>
            </p:extLst>
          </p:nvPr>
        </p:nvGraphicFramePr>
        <p:xfrm>
          <a:off x="2209800" y="2273364"/>
          <a:ext cx="9887461" cy="9801860"/>
        </p:xfrm>
        <a:graphic>
          <a:graphicData uri="http://schemas.openxmlformats.org/drawingml/2006/table">
            <a:tbl>
              <a:tblPr/>
              <a:tblGrid>
                <a:gridCol w="1152044">
                  <a:extLst>
                    <a:ext uri="{9D8B030D-6E8A-4147-A177-3AD203B41FA5}">
                      <a16:colId xmlns:a16="http://schemas.microsoft.com/office/drawing/2014/main" val="2535333605"/>
                    </a:ext>
                  </a:extLst>
                </a:gridCol>
                <a:gridCol w="476580">
                  <a:extLst>
                    <a:ext uri="{9D8B030D-6E8A-4147-A177-3AD203B41FA5}">
                      <a16:colId xmlns:a16="http://schemas.microsoft.com/office/drawing/2014/main" val="1094461723"/>
                    </a:ext>
                  </a:extLst>
                </a:gridCol>
                <a:gridCol w="209156">
                  <a:extLst>
                    <a:ext uri="{9D8B030D-6E8A-4147-A177-3AD203B41FA5}">
                      <a16:colId xmlns:a16="http://schemas.microsoft.com/office/drawing/2014/main" val="3808492267"/>
                    </a:ext>
                  </a:extLst>
                </a:gridCol>
                <a:gridCol w="124416">
                  <a:extLst>
                    <a:ext uri="{9D8B030D-6E8A-4147-A177-3AD203B41FA5}">
                      <a16:colId xmlns:a16="http://schemas.microsoft.com/office/drawing/2014/main" val="262001276"/>
                    </a:ext>
                  </a:extLst>
                </a:gridCol>
                <a:gridCol w="1152044">
                  <a:extLst>
                    <a:ext uri="{9D8B030D-6E8A-4147-A177-3AD203B41FA5}">
                      <a16:colId xmlns:a16="http://schemas.microsoft.com/office/drawing/2014/main" val="3978363359"/>
                    </a:ext>
                  </a:extLst>
                </a:gridCol>
                <a:gridCol w="1152044">
                  <a:extLst>
                    <a:ext uri="{9D8B030D-6E8A-4147-A177-3AD203B41FA5}">
                      <a16:colId xmlns:a16="http://schemas.microsoft.com/office/drawing/2014/main" val="3719477406"/>
                    </a:ext>
                  </a:extLst>
                </a:gridCol>
                <a:gridCol w="360205">
                  <a:extLst>
                    <a:ext uri="{9D8B030D-6E8A-4147-A177-3AD203B41FA5}">
                      <a16:colId xmlns:a16="http://schemas.microsoft.com/office/drawing/2014/main" val="3720993821"/>
                    </a:ext>
                  </a:extLst>
                </a:gridCol>
                <a:gridCol w="360205">
                  <a:extLst>
                    <a:ext uri="{9D8B030D-6E8A-4147-A177-3AD203B41FA5}">
                      <a16:colId xmlns:a16="http://schemas.microsoft.com/office/drawing/2014/main" val="3527817498"/>
                    </a:ext>
                  </a:extLst>
                </a:gridCol>
                <a:gridCol w="520081">
                  <a:extLst>
                    <a:ext uri="{9D8B030D-6E8A-4147-A177-3AD203B41FA5}">
                      <a16:colId xmlns:a16="http://schemas.microsoft.com/office/drawing/2014/main" val="3612623588"/>
                    </a:ext>
                  </a:extLst>
                </a:gridCol>
                <a:gridCol w="124416">
                  <a:extLst>
                    <a:ext uri="{9D8B030D-6E8A-4147-A177-3AD203B41FA5}">
                      <a16:colId xmlns:a16="http://schemas.microsoft.com/office/drawing/2014/main" val="1146236422"/>
                    </a:ext>
                  </a:extLst>
                </a:gridCol>
                <a:gridCol w="353945">
                  <a:extLst>
                    <a:ext uri="{9D8B030D-6E8A-4147-A177-3AD203B41FA5}">
                      <a16:colId xmlns:a16="http://schemas.microsoft.com/office/drawing/2014/main" val="3800233602"/>
                    </a:ext>
                  </a:extLst>
                </a:gridCol>
                <a:gridCol w="249606">
                  <a:extLst>
                    <a:ext uri="{9D8B030D-6E8A-4147-A177-3AD203B41FA5}">
                      <a16:colId xmlns:a16="http://schemas.microsoft.com/office/drawing/2014/main" val="1668744159"/>
                    </a:ext>
                  </a:extLst>
                </a:gridCol>
                <a:gridCol w="124416">
                  <a:extLst>
                    <a:ext uri="{9D8B030D-6E8A-4147-A177-3AD203B41FA5}">
                      <a16:colId xmlns:a16="http://schemas.microsoft.com/office/drawing/2014/main" val="3491068003"/>
                    </a:ext>
                  </a:extLst>
                </a:gridCol>
                <a:gridCol w="124416">
                  <a:extLst>
                    <a:ext uri="{9D8B030D-6E8A-4147-A177-3AD203B41FA5}">
                      <a16:colId xmlns:a16="http://schemas.microsoft.com/office/drawing/2014/main" val="2485139299"/>
                    </a:ext>
                  </a:extLst>
                </a:gridCol>
                <a:gridCol w="124416">
                  <a:extLst>
                    <a:ext uri="{9D8B030D-6E8A-4147-A177-3AD203B41FA5}">
                      <a16:colId xmlns:a16="http://schemas.microsoft.com/office/drawing/2014/main" val="187205580"/>
                    </a:ext>
                  </a:extLst>
                </a:gridCol>
                <a:gridCol w="124416">
                  <a:extLst>
                    <a:ext uri="{9D8B030D-6E8A-4147-A177-3AD203B41FA5}">
                      <a16:colId xmlns:a16="http://schemas.microsoft.com/office/drawing/2014/main" val="2947628480"/>
                    </a:ext>
                  </a:extLst>
                </a:gridCol>
                <a:gridCol w="124416">
                  <a:extLst>
                    <a:ext uri="{9D8B030D-6E8A-4147-A177-3AD203B41FA5}">
                      <a16:colId xmlns:a16="http://schemas.microsoft.com/office/drawing/2014/main" val="2613154927"/>
                    </a:ext>
                  </a:extLst>
                </a:gridCol>
                <a:gridCol w="124416">
                  <a:extLst>
                    <a:ext uri="{9D8B030D-6E8A-4147-A177-3AD203B41FA5}">
                      <a16:colId xmlns:a16="http://schemas.microsoft.com/office/drawing/2014/main" val="1350964593"/>
                    </a:ext>
                  </a:extLst>
                </a:gridCol>
                <a:gridCol w="124416">
                  <a:extLst>
                    <a:ext uri="{9D8B030D-6E8A-4147-A177-3AD203B41FA5}">
                      <a16:colId xmlns:a16="http://schemas.microsoft.com/office/drawing/2014/main" val="972567622"/>
                    </a:ext>
                  </a:extLst>
                </a:gridCol>
                <a:gridCol w="361485">
                  <a:extLst>
                    <a:ext uri="{9D8B030D-6E8A-4147-A177-3AD203B41FA5}">
                      <a16:colId xmlns:a16="http://schemas.microsoft.com/office/drawing/2014/main" val="2850928720"/>
                    </a:ext>
                  </a:extLst>
                </a:gridCol>
                <a:gridCol w="123136">
                  <a:extLst>
                    <a:ext uri="{9D8B030D-6E8A-4147-A177-3AD203B41FA5}">
                      <a16:colId xmlns:a16="http://schemas.microsoft.com/office/drawing/2014/main" val="3823926799"/>
                    </a:ext>
                  </a:extLst>
                </a:gridCol>
                <a:gridCol w="1152044">
                  <a:extLst>
                    <a:ext uri="{9D8B030D-6E8A-4147-A177-3AD203B41FA5}">
                      <a16:colId xmlns:a16="http://schemas.microsoft.com/office/drawing/2014/main" val="1250467823"/>
                    </a:ext>
                  </a:extLst>
                </a:gridCol>
                <a:gridCol w="406113">
                  <a:extLst>
                    <a:ext uri="{9D8B030D-6E8A-4147-A177-3AD203B41FA5}">
                      <a16:colId xmlns:a16="http://schemas.microsoft.com/office/drawing/2014/main" val="2146027285"/>
                    </a:ext>
                  </a:extLst>
                </a:gridCol>
                <a:gridCol w="254583">
                  <a:extLst>
                    <a:ext uri="{9D8B030D-6E8A-4147-A177-3AD203B41FA5}">
                      <a16:colId xmlns:a16="http://schemas.microsoft.com/office/drawing/2014/main" val="3188303384"/>
                    </a:ext>
                  </a:extLst>
                </a:gridCol>
                <a:gridCol w="484446">
                  <a:extLst>
                    <a:ext uri="{9D8B030D-6E8A-4147-A177-3AD203B41FA5}">
                      <a16:colId xmlns:a16="http://schemas.microsoft.com/office/drawing/2014/main" val="1584923976"/>
                    </a:ext>
                  </a:extLst>
                </a:gridCol>
              </a:tblGrid>
              <a:tr h="425255">
                <a:tc rowSpan="2"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위원장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591757"/>
                  </a:ext>
                </a:extLst>
              </a:tr>
              <a:tr h="592714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사하의집 시설장</a:t>
                      </a: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471776"/>
                  </a:ext>
                </a:extLst>
              </a:tr>
              <a:tr h="401229">
                <a:tc rowSpan="7"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669174"/>
                  </a:ext>
                </a:extLst>
              </a:tr>
              <a:tr h="476143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자문위원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530637"/>
                  </a:ext>
                </a:extLst>
              </a:tr>
              <a:tr h="469635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각 시설장</a:t>
                      </a: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358745"/>
                  </a:ext>
                </a:extLst>
              </a:tr>
              <a:tr h="401229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656351"/>
                  </a:ext>
                </a:extLst>
              </a:tr>
              <a:tr h="453263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부위원장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066146"/>
                  </a:ext>
                </a:extLst>
              </a:tr>
              <a:tr h="4141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gridSpan="1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사하의집 사무국장</a:t>
                      </a: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870980"/>
                  </a:ext>
                </a:extLst>
              </a:tr>
              <a:tr h="414111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109017"/>
                  </a:ext>
                </a:extLst>
              </a:tr>
              <a:tr h="414111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8210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272175"/>
                  </a:ext>
                </a:extLst>
              </a:tr>
              <a:tr h="414111">
                <a:tc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651343"/>
                  </a:ext>
                </a:extLst>
              </a:tr>
              <a:tr h="43018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8210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8210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8210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0706487"/>
                  </a:ext>
                </a:extLst>
              </a:tr>
              <a:tr h="681079"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사업기획 분과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사업운영 분과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사업활동 분과 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265608"/>
                  </a:ext>
                </a:extLst>
              </a:tr>
              <a:tr h="486596">
                <a:tc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정해시</a:t>
                      </a:r>
                      <a:r>
                        <a:rPr lang="en-US" altLang="ko-KR" sz="2000" kern="0" spc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000" kern="0" spc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박미숙</a:t>
                      </a:r>
                      <a:r>
                        <a:rPr lang="en-US" altLang="ko-KR" sz="2000" kern="0" spc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000" kern="0" spc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이혜영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박미숙</a:t>
                      </a:r>
                      <a:r>
                        <a:rPr lang="en-US" altLang="ko-KR" sz="2000" kern="0" spc="0" dirty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000" kern="0" spc="0" dirty="0" err="1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우용호</a:t>
                      </a:r>
                      <a:r>
                        <a:rPr lang="en-US" altLang="ko-KR" sz="2000" kern="0" spc="0" dirty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000" kern="0" spc="0" dirty="0" err="1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우복남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>
                        <a:solidFill>
                          <a:srgbClr val="08210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613157"/>
                  </a:ext>
                </a:extLst>
              </a:tr>
              <a:tr h="344760">
                <a:tc rowSpan="5" gridSpan="6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∙사업 총괄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∙비전제시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∙사업계획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∙위원회 홍보</a:t>
                      </a:r>
                      <a:endParaRPr lang="ko-KR" altLang="en-US" sz="2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6" gridSpan="13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∙단위사업 일정조율 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∙단위사업 진행사항 체크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∙산하기관 협업관계 요청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∙회계관리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 gridSpan="4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∙교류 프로그램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∙동아리활동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∙</a:t>
                      </a:r>
                      <a:r>
                        <a:rPr lang="ko-KR" altLang="en-US" sz="2000" b="1" kern="0" spc="0" dirty="0" err="1">
                          <a:solidFill>
                            <a:srgbClr val="082108"/>
                          </a:solidFill>
                          <a:effectLst/>
                          <a:latin typeface="+mn-ea"/>
                          <a:ea typeface="+mn-ea"/>
                        </a:rPr>
                        <a:t>힐링프로그램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∙만족도 설문조사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∙역량강화 프로그램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∙한마음체육대회</a:t>
                      </a:r>
                      <a:endParaRPr lang="en-US" altLang="ko-KR" sz="2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20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다하합창단</a:t>
                      </a:r>
                      <a:endParaRPr lang="en-US" altLang="ko-KR" sz="2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884450"/>
                  </a:ext>
                </a:extLst>
              </a:tr>
              <a:tr h="344760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76803"/>
                  </a:ext>
                </a:extLst>
              </a:tr>
              <a:tr h="344760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192216"/>
                  </a:ext>
                </a:extLst>
              </a:tr>
              <a:tr h="344760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928809"/>
                  </a:ext>
                </a:extLst>
              </a:tr>
              <a:tr h="344760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544306"/>
                  </a:ext>
                </a:extLst>
              </a:tr>
              <a:tr h="344760">
                <a:tc rowSpan="3" grid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229205"/>
                  </a:ext>
                </a:extLst>
              </a:tr>
              <a:tr h="584035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gridSpan="1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326923"/>
                  </a:ext>
                </a:extLst>
              </a:tr>
              <a:tr h="344760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2000" b="1" kern="0" spc="0" dirty="0">
                        <a:solidFill>
                          <a:srgbClr val="9D3B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868" marR="48868" marT="13510" marB="135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8685336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F58BBED2-5F83-46DB-BBDD-9D962FE50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2878" y="2523442"/>
            <a:ext cx="40848884" cy="941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662" y="606945"/>
            <a:ext cx="20955000" cy="1092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주요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사업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영역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7000" y="7569200"/>
            <a:ext cx="5981700" cy="4013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35300" y="7569200"/>
            <a:ext cx="5981700" cy="4013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997200" y="8559800"/>
            <a:ext cx="54991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역량강화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교육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97200" y="9512300"/>
            <a:ext cx="5448300" cy="1778000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16199"/>
              </a:lnSpc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sz="2400" b="0" i="0" u="none" strike="noStrike" dirty="0">
                <a:solidFill>
                  <a:srgbClr val="000000"/>
                </a:solidFill>
                <a:latin typeface="+mn-ea"/>
              </a:rPr>
              <a:t>디지털</a:t>
            </a:r>
            <a:r>
              <a:rPr lang="en-US" sz="24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latin typeface="+mn-ea"/>
              </a:rPr>
              <a:t>역량교육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+mn-ea"/>
              </a:rPr>
              <a:t>          -</a:t>
            </a: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사례나눔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+mn-ea"/>
              </a:rPr>
              <a:t>    </a:t>
            </a:r>
            <a:endParaRPr lang="ko-KR" sz="2400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sz="2400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sz="2400" b="0" i="0" u="none" strike="noStrike" dirty="0" err="1">
                <a:solidFill>
                  <a:srgbClr val="000000"/>
                </a:solidFill>
                <a:latin typeface="+mn-ea"/>
              </a:rPr>
              <a:t>직능별</a:t>
            </a:r>
            <a:r>
              <a:rPr lang="en-US" sz="24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latin typeface="+mn-ea"/>
              </a:rPr>
              <a:t>워크샵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+mn-ea"/>
              </a:rPr>
              <a:t>            -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+mn-ea"/>
              </a:rPr>
              <a:t>법정의무교육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endParaRPr lang="ko-KR" sz="2400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2400" b="0" i="0" u="none" strike="noStrike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sz="2400" b="0" i="0" u="none" strike="noStrike" dirty="0">
                <a:solidFill>
                  <a:srgbClr val="000000"/>
                </a:solidFill>
                <a:latin typeface="+mn-ea"/>
              </a:rPr>
              <a:t>전문가</a:t>
            </a:r>
            <a:r>
              <a:rPr lang="en-US" sz="24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400" b="0" i="0" u="none" strike="noStrike" dirty="0">
                <a:solidFill>
                  <a:srgbClr val="000000"/>
                </a:solidFill>
                <a:latin typeface="+mn-ea"/>
              </a:rPr>
              <a:t>초청연수</a:t>
            </a:r>
            <a:endParaRPr lang="en-US" altLang="ko-KR" sz="2400" b="0" i="0" u="none" strike="noStrike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065500" y="8547100"/>
            <a:ext cx="54991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특별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활동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65500" y="9512300"/>
            <a:ext cx="5448300" cy="1778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한마음</a:t>
            </a: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체육대회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합창단</a:t>
            </a: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운영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3333" dirty="0">
                <a:solidFill>
                  <a:srgbClr val="000000"/>
                </a:solidFill>
                <a:latin typeface="+mn-ea"/>
              </a:rPr>
              <a:t>근무 만족도 조사</a:t>
            </a:r>
            <a:endParaRPr lang="ko-KR" sz="3333" b="0" i="0" u="none" strike="noStrike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67000" y="2997200"/>
            <a:ext cx="5981700" cy="4013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4800" y="2997200"/>
            <a:ext cx="5981700" cy="401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35300" y="2997200"/>
            <a:ext cx="5981700" cy="4013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4800" y="7569200"/>
            <a:ext cx="5981700" cy="40132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997200" y="3987800"/>
            <a:ext cx="54991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교류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프로그램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97200" y="4953000"/>
            <a:ext cx="5448300" cy="1778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신입직원</a:t>
            </a: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오리엔테이션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25000" y="3987800"/>
            <a:ext cx="54991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힐링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프로그램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25000" y="4953000"/>
            <a:ext cx="5448300" cy="1778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333" b="0" i="0" u="none" strike="noStrike" dirty="0" err="1">
                <a:solidFill>
                  <a:srgbClr val="000000"/>
                </a:solidFill>
                <a:latin typeface="+mn-ea"/>
              </a:rPr>
              <a:t>힐링체험</a:t>
            </a:r>
            <a:endParaRPr lang="ko-KR" sz="3333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333" b="0" i="0" u="none" strike="noStrike" dirty="0" err="1">
                <a:solidFill>
                  <a:srgbClr val="000000"/>
                </a:solidFill>
                <a:latin typeface="+mn-ea"/>
              </a:rPr>
              <a:t>힐링워크샵</a:t>
            </a:r>
            <a:endParaRPr lang="ko-KR" sz="3333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333" b="0" i="0" u="none" strike="noStrike" dirty="0" err="1">
                <a:solidFill>
                  <a:srgbClr val="000000"/>
                </a:solidFill>
                <a:latin typeface="+mn-ea"/>
              </a:rPr>
              <a:t>힐링캠프</a:t>
            </a:r>
            <a:endParaRPr lang="ko-KR" sz="3333" b="0" i="0" u="none" strike="noStrike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6065500" y="3987800"/>
            <a:ext cx="54991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동아리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활동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065500" y="4953000"/>
            <a:ext cx="5448300" cy="1778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취미</a:t>
            </a: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중심</a:t>
            </a: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동아리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자기계발</a:t>
            </a: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+mn-ea"/>
              </a:rPr>
              <a:t>동아리</a:t>
            </a:r>
          </a:p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3333" b="0" i="0" u="none" strike="noStrike" dirty="0">
                <a:solidFill>
                  <a:srgbClr val="000000"/>
                </a:solidFill>
                <a:latin typeface="+mn-ea"/>
              </a:rPr>
              <a:t>걷기 동아리</a:t>
            </a:r>
            <a:endParaRPr lang="ko-KR" sz="3333" b="0" i="0" u="none" strike="noStrike" dirty="0">
              <a:solidFill>
                <a:srgbClr val="0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en-US" sz="3999" b="1" spc="160" dirty="0">
                <a:solidFill>
                  <a:srgbClr val="FF0000"/>
                </a:solidFill>
                <a:latin typeface="+mn-ea"/>
              </a:rPr>
              <a:t>2025</a:t>
            </a:r>
            <a:r>
              <a:rPr lang="ko-KR" altLang="en-US" sz="3999" b="1" spc="160" dirty="0">
                <a:solidFill>
                  <a:srgbClr val="FF0000"/>
                </a:solidFill>
                <a:latin typeface="+mn-ea"/>
              </a:rPr>
              <a:t>년 사업별 추진현황</a:t>
            </a:r>
            <a:r>
              <a:rPr lang="en-US" altLang="ko-KR" sz="3999" b="1" spc="160" dirty="0">
                <a:solidFill>
                  <a:srgbClr val="0070C0"/>
                </a:solidFill>
                <a:latin typeface="+mn-ea"/>
              </a:rPr>
              <a:t>(6</a:t>
            </a:r>
            <a:r>
              <a:rPr lang="ko-KR" altLang="en-US" sz="3999" b="1" spc="160" dirty="0">
                <a:solidFill>
                  <a:srgbClr val="0070C0"/>
                </a:solidFill>
                <a:latin typeface="+mn-ea"/>
              </a:rPr>
              <a:t>대사업 </a:t>
            </a:r>
            <a:r>
              <a:rPr lang="en-US" altLang="ko-KR" sz="3999" b="1" spc="160" dirty="0">
                <a:solidFill>
                  <a:srgbClr val="0070C0"/>
                </a:solidFill>
                <a:latin typeface="+mn-ea"/>
              </a:rPr>
              <a:t>17</a:t>
            </a:r>
            <a:r>
              <a:rPr lang="ko-KR" altLang="en-US" sz="3999" b="1" spc="160" dirty="0">
                <a:solidFill>
                  <a:srgbClr val="0070C0"/>
                </a:solidFill>
                <a:latin typeface="+mn-ea"/>
              </a:rPr>
              <a:t>개 세부사업</a:t>
            </a:r>
            <a:r>
              <a:rPr lang="en-US" altLang="ko-KR" sz="3999" b="1" spc="160" dirty="0">
                <a:solidFill>
                  <a:srgbClr val="0070C0"/>
                </a:solidFill>
                <a:latin typeface="+mn-ea"/>
              </a:rPr>
              <a:t>)</a:t>
            </a:r>
            <a:endParaRPr lang="en" sz="3999" b="1" i="0" u="none" strike="noStrike" spc="160" dirty="0">
              <a:solidFill>
                <a:srgbClr val="0070C0"/>
              </a:solidFill>
              <a:latin typeface="+mn-ea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EC22D4F-EDDA-4231-B8BF-06EC4336F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947628"/>
              </p:ext>
            </p:extLst>
          </p:nvPr>
        </p:nvGraphicFramePr>
        <p:xfrm>
          <a:off x="4933950" y="2095337"/>
          <a:ext cx="14935199" cy="10511060"/>
        </p:xfrm>
        <a:graphic>
          <a:graphicData uri="http://schemas.openxmlformats.org/drawingml/2006/table">
            <a:tbl>
              <a:tblPr/>
              <a:tblGrid>
                <a:gridCol w="3404641">
                  <a:extLst>
                    <a:ext uri="{9D8B030D-6E8A-4147-A177-3AD203B41FA5}">
                      <a16:colId xmlns:a16="http://schemas.microsoft.com/office/drawing/2014/main" val="4253508142"/>
                    </a:ext>
                  </a:extLst>
                </a:gridCol>
                <a:gridCol w="6347567">
                  <a:extLst>
                    <a:ext uri="{9D8B030D-6E8A-4147-A177-3AD203B41FA5}">
                      <a16:colId xmlns:a16="http://schemas.microsoft.com/office/drawing/2014/main" val="2738210793"/>
                    </a:ext>
                  </a:extLst>
                </a:gridCol>
                <a:gridCol w="2240656">
                  <a:extLst>
                    <a:ext uri="{9D8B030D-6E8A-4147-A177-3AD203B41FA5}">
                      <a16:colId xmlns:a16="http://schemas.microsoft.com/office/drawing/2014/main" val="3416702949"/>
                    </a:ext>
                  </a:extLst>
                </a:gridCol>
                <a:gridCol w="2942335">
                  <a:extLst>
                    <a:ext uri="{9D8B030D-6E8A-4147-A177-3AD203B41FA5}">
                      <a16:colId xmlns:a16="http://schemas.microsoft.com/office/drawing/2014/main" val="2064161033"/>
                    </a:ext>
                  </a:extLst>
                </a:gridCol>
              </a:tblGrid>
              <a:tr h="74261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사업명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진행횟수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참여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인원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558336"/>
                  </a:ext>
                </a:extLst>
              </a:tr>
              <a:tr h="55231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교류프로그램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신입직원오리엔테이션</a:t>
                      </a:r>
                      <a:endParaRPr lang="ko-KR" altLang="en-US" sz="24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0557987"/>
                  </a:ext>
                </a:extLst>
              </a:tr>
              <a:tr h="52469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힐링프로그램</a:t>
                      </a:r>
                      <a:endParaRPr lang="ko-KR" altLang="en-US" sz="2400" b="1" kern="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힐링체험</a:t>
                      </a:r>
                      <a:endParaRPr lang="ko-KR" altLang="en-US" sz="24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531683"/>
                  </a:ext>
                </a:extLst>
              </a:tr>
              <a:tr h="524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힐링워크샵</a:t>
                      </a:r>
                      <a:endParaRPr lang="ko-KR" altLang="en-US" sz="24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2893670"/>
                  </a:ext>
                </a:extLst>
              </a:tr>
              <a:tr h="524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힐링캠프</a:t>
                      </a:r>
                      <a:endParaRPr lang="ko-KR" altLang="en-US" sz="24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76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8315298"/>
                  </a:ext>
                </a:extLst>
              </a:tr>
              <a:tr h="552318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동아리활동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닐리리맘보</a:t>
                      </a:r>
                      <a:endParaRPr lang="ko-KR" altLang="en-US" sz="24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706356"/>
                  </a:ext>
                </a:extLst>
              </a:tr>
              <a:tr h="524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트레킹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50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014255"/>
                  </a:ext>
                </a:extLst>
              </a:tr>
              <a:tr h="5523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걸음걸음행복</a:t>
                      </a:r>
                      <a:endParaRPr lang="ko-KR" altLang="en-US" sz="24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441"/>
                  </a:ext>
                </a:extLst>
              </a:tr>
              <a:tr h="524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수영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8730101"/>
                  </a:ext>
                </a:extLst>
              </a:tr>
              <a:tr h="524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018246"/>
                  </a:ext>
                </a:extLst>
              </a:tr>
              <a:tr h="524697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역량강화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프로그램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법정의무교육</a:t>
                      </a:r>
                      <a:r>
                        <a:rPr lang="en-US" altLang="ko-KR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인권</a:t>
                      </a:r>
                      <a:r>
                        <a:rPr lang="en-US" altLang="ko-KR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24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280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611337"/>
                  </a:ext>
                </a:extLst>
              </a:tr>
              <a:tr h="524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법정의무교육</a:t>
                      </a:r>
                      <a:r>
                        <a:rPr lang="en-US" altLang="ko-KR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윤리</a:t>
                      </a:r>
                      <a:r>
                        <a:rPr lang="en-US" altLang="ko-KR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24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688604"/>
                  </a:ext>
                </a:extLst>
              </a:tr>
              <a:tr h="524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직능별워크샵</a:t>
                      </a:r>
                      <a:endParaRPr lang="ko-KR" altLang="en-US" sz="24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209040"/>
                  </a:ext>
                </a:extLst>
              </a:tr>
              <a:tr h="5246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사례나눔</a:t>
                      </a:r>
                      <a:endParaRPr lang="ko-KR" altLang="en-US" sz="24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624741"/>
                  </a:ext>
                </a:extLst>
              </a:tr>
              <a:tr h="5523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전문가초청연수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157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4827005"/>
                  </a:ext>
                </a:extLst>
              </a:tr>
              <a:tr h="5523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디지털역량교육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102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2251343"/>
                  </a:ext>
                </a:extLst>
              </a:tr>
              <a:tr h="5246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한마음체육대회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115918"/>
                  </a:ext>
                </a:extLst>
              </a:tr>
              <a:tr h="5246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다하합창단</a:t>
                      </a:r>
                      <a:endParaRPr lang="ko-KR" altLang="en-US" sz="2400" b="1" kern="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204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214684"/>
                  </a:ext>
                </a:extLst>
              </a:tr>
              <a:tr h="5246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400" b="1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82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1320</a:t>
                      </a:r>
                    </a:p>
                  </a:txBody>
                  <a:tcPr marL="53046" marR="53046" marT="14666" marB="14666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252013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D2B5938E-FDBA-462A-8CAE-EFD4482B0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057" y="2673656"/>
            <a:ext cx="86809253" cy="916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56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00" y="2222500"/>
            <a:ext cx="20447000" cy="10121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9900" y="552450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999" b="1" spc="160" dirty="0">
                <a:solidFill>
                  <a:srgbClr val="FF0000"/>
                </a:solidFill>
                <a:latin typeface="+mn-ea"/>
              </a:rPr>
              <a:t>평점기준</a:t>
            </a:r>
            <a:endParaRPr lang="en" sz="3999" b="1" i="0" u="none" strike="noStrike" spc="160" dirty="0">
              <a:solidFill>
                <a:srgbClr val="FF0000"/>
              </a:solidFill>
              <a:latin typeface="+mn-ea"/>
            </a:endParaRPr>
          </a:p>
        </p:txBody>
      </p:sp>
      <p:graphicFrame>
        <p:nvGraphicFramePr>
          <p:cNvPr id="18" name="내용 개체 틀 4">
            <a:extLst>
              <a:ext uri="{FF2B5EF4-FFF2-40B4-BE49-F238E27FC236}">
                <a16:creationId xmlns:a16="http://schemas.microsoft.com/office/drawing/2014/main" id="{CBFE7F4C-46F6-463F-B06F-634438785C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9211344"/>
              </p:ext>
            </p:extLst>
          </p:nvPr>
        </p:nvGraphicFramePr>
        <p:xfrm>
          <a:off x="4419600" y="3342289"/>
          <a:ext cx="15087599" cy="7782911"/>
        </p:xfrm>
        <a:graphic>
          <a:graphicData uri="http://schemas.openxmlformats.org/drawingml/2006/table">
            <a:tbl>
              <a:tblPr/>
              <a:tblGrid>
                <a:gridCol w="5243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0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3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83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점 수</a:t>
                      </a:r>
                      <a:endParaRPr lang="ko-KR" altLang="en-US" sz="4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평 정</a:t>
                      </a:r>
                      <a:endParaRPr lang="ko-KR" altLang="en-US" sz="4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 용</a:t>
                      </a:r>
                      <a:endParaRPr lang="ko-KR" altLang="en-US" sz="4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9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40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9.0</a:t>
                      </a:r>
                      <a:r>
                        <a:rPr lang="ko-KR" altLang="en-US" sz="40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이상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매우 우수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kern="0" spc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사업 지속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9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40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7.0</a:t>
                      </a:r>
                      <a:r>
                        <a:rPr lang="ko-KR" altLang="en-US" sz="40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이상 </a:t>
                      </a:r>
                      <a:r>
                        <a:rPr lang="en-US" altLang="ko-KR" sz="40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~ 9.0</a:t>
                      </a:r>
                      <a:r>
                        <a:rPr lang="ko-KR" altLang="en-US" sz="40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미만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우수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kern="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사업 보완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9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4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</a:t>
                      </a:r>
                      <a:r>
                        <a:rPr lang="ko-KR" altLang="en-US" sz="4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이상 </a:t>
                      </a:r>
                      <a:r>
                        <a:rPr lang="en-US" altLang="ko-KR" sz="4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~ 7.0</a:t>
                      </a:r>
                      <a:r>
                        <a:rPr lang="ko-KR" altLang="en-US" sz="4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 보류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9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4000" kern="0" spc="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3.0</a:t>
                      </a:r>
                      <a:r>
                        <a:rPr lang="ko-KR" altLang="en-US" sz="4000" kern="0" spc="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이상 </a:t>
                      </a:r>
                      <a:r>
                        <a:rPr lang="en-US" altLang="ko-KR" sz="4000" kern="0" spc="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~ 5.0</a:t>
                      </a:r>
                      <a:r>
                        <a:rPr lang="ko-KR" altLang="en-US" sz="4000" kern="0" spc="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미만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kern="0" spc="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미흡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kern="0" spc="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사업 중단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9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4000" kern="0" spc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3.0</a:t>
                      </a:r>
                      <a:r>
                        <a:rPr lang="ko-KR" altLang="en-US" sz="4000" kern="0" spc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미만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kern="0" spc="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매우 미흡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kern="0" spc="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사업 중단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271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-89647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en" sz="3999" b="1" i="0" u="none" strike="noStrike" spc="160" dirty="0">
                <a:solidFill>
                  <a:srgbClr val="FF0000"/>
                </a:solidFill>
                <a:latin typeface="+mn-ea"/>
              </a:rPr>
              <a:t>교류프로그램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28900" y="3759200"/>
            <a:ext cx="104140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신입직원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오리엔테이션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28900" y="4838700"/>
            <a:ext cx="1036320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신입직원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오리엔테이션은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법인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1" i="0" u="none" strike="noStrike" dirty="0">
                <a:solidFill>
                  <a:srgbClr val="0070C0"/>
                </a:solidFill>
                <a:latin typeface="+mn-ea"/>
              </a:rPr>
              <a:t>비전</a:t>
            </a:r>
            <a:r>
              <a:rPr lang="en-US" sz="33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300" b="1" i="0" u="none" strike="noStrike" dirty="0">
                <a:solidFill>
                  <a:srgbClr val="0070C0"/>
                </a:solidFill>
                <a:latin typeface="+mn-ea"/>
              </a:rPr>
              <a:t>공유와</a:t>
            </a:r>
            <a:r>
              <a:rPr lang="en-US" sz="33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300" b="1" i="0" u="none" strike="noStrike" dirty="0">
                <a:solidFill>
                  <a:srgbClr val="0070C0"/>
                </a:solidFill>
                <a:latin typeface="+mn-ea"/>
              </a:rPr>
              <a:t>직원</a:t>
            </a:r>
            <a:r>
              <a:rPr lang="en-US" sz="33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300" b="1" i="0" u="none" strike="noStrike" dirty="0">
                <a:solidFill>
                  <a:srgbClr val="0070C0"/>
                </a:solidFill>
                <a:latin typeface="+mn-ea"/>
              </a:rPr>
              <a:t>간</a:t>
            </a:r>
            <a:r>
              <a:rPr lang="en-US" sz="33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300" b="1" i="0" u="none" strike="noStrike" dirty="0">
                <a:solidFill>
                  <a:srgbClr val="0070C0"/>
                </a:solidFill>
                <a:latin typeface="+mn-ea"/>
              </a:rPr>
              <a:t>교류</a:t>
            </a:r>
            <a:r>
              <a:rPr lang="en-US" sz="33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300" b="1" i="0" u="none" strike="noStrike" dirty="0">
                <a:solidFill>
                  <a:srgbClr val="0070C0"/>
                </a:solidFill>
                <a:latin typeface="+mn-ea"/>
              </a:rPr>
              <a:t>활성화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를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위한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핵심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프로그램입니다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기관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규모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확대로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인한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직원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교류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감소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문제를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해결하기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위해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운영되었습니다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28900" y="8407400"/>
            <a:ext cx="104140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성과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및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평가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28900" y="9486900"/>
            <a:ext cx="10363200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3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3300" b="0" i="0" u="none" strike="noStrike" dirty="0">
                <a:solidFill>
                  <a:srgbClr val="000000"/>
                </a:solidFill>
                <a:latin typeface="+mn-ea"/>
              </a:rPr>
              <a:t>평균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만족도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점수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sz="3300" b="1" i="0" u="none" strike="noStrike" dirty="0">
                <a:solidFill>
                  <a:srgbClr val="FF0000"/>
                </a:solidFill>
                <a:latin typeface="+mn-ea"/>
              </a:rPr>
              <a:t>2024</a:t>
            </a:r>
            <a:r>
              <a:rPr lang="ko-KR" sz="3300" b="1" i="0" u="none" strike="noStrike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sz="3300" b="1" i="0" u="none" strike="noStrike" dirty="0">
                <a:solidFill>
                  <a:srgbClr val="FF0000"/>
                </a:solidFill>
                <a:latin typeface="+mn-ea"/>
              </a:rPr>
              <a:t> 7.3</a:t>
            </a:r>
            <a:r>
              <a:rPr lang="ko-KR" sz="3300" b="1" i="0" u="none" strike="noStrike" dirty="0">
                <a:solidFill>
                  <a:srgbClr val="FF0000"/>
                </a:solidFill>
                <a:latin typeface="+mn-ea"/>
              </a:rPr>
              <a:t>점</a:t>
            </a:r>
            <a:r>
              <a:rPr lang="en-US" sz="3300" b="1" i="0" u="none" strike="noStrike" dirty="0">
                <a:solidFill>
                  <a:srgbClr val="FF0000"/>
                </a:solidFill>
                <a:latin typeface="+mn-ea"/>
              </a:rPr>
              <a:t> → 2025</a:t>
            </a:r>
            <a:r>
              <a:rPr lang="ko-KR" sz="3300" b="1" i="0" u="none" strike="noStrike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sz="3300" b="1" i="0" u="none" strike="noStrike" dirty="0">
                <a:solidFill>
                  <a:srgbClr val="FF0000"/>
                </a:solidFill>
                <a:latin typeface="+mn-ea"/>
              </a:rPr>
              <a:t> 8.2</a:t>
            </a:r>
            <a:r>
              <a:rPr lang="ko-KR" sz="3300" b="1" i="0" u="none" strike="noStrike" dirty="0">
                <a:solidFill>
                  <a:srgbClr val="FF0000"/>
                </a:solidFill>
                <a:latin typeface="+mn-ea"/>
              </a:rPr>
              <a:t>점</a:t>
            </a:r>
            <a:r>
              <a:rPr lang="ko-KR" altLang="en-US" sz="3300" b="1" i="0" u="none" strike="noStrike" dirty="0">
                <a:solidFill>
                  <a:srgbClr val="FF0000"/>
                </a:solidFill>
                <a:latin typeface="+mn-ea"/>
              </a:rPr>
              <a:t>으로 </a:t>
            </a:r>
            <a:r>
              <a:rPr lang="en-US" altLang="ko-KR" sz="3300" b="1" i="0" u="none" strike="noStrike" dirty="0">
                <a:solidFill>
                  <a:srgbClr val="FF0000"/>
                </a:solidFill>
                <a:latin typeface="+mn-ea"/>
              </a:rPr>
              <a:t>0.9</a:t>
            </a:r>
            <a:r>
              <a:rPr lang="ko-KR" altLang="en-US" sz="3300" b="1" i="0" u="none" strike="noStrike" dirty="0">
                <a:solidFill>
                  <a:srgbClr val="FF0000"/>
                </a:solidFill>
                <a:latin typeface="+mn-ea"/>
              </a:rPr>
              <a:t>점</a:t>
            </a:r>
            <a:r>
              <a:rPr lang="en-US" sz="33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300" b="1" i="0" u="none" strike="noStrike" dirty="0">
                <a:solidFill>
                  <a:srgbClr val="FF0000"/>
                </a:solidFill>
                <a:latin typeface="+mn-ea"/>
              </a:rPr>
              <a:t>상승</a:t>
            </a:r>
            <a:endParaRPr lang="en-US" altLang="ko-KR" sz="3300" b="1" i="0" u="none" strike="noStrike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16199"/>
              </a:lnSpc>
            </a:pPr>
            <a:r>
              <a:rPr lang="en-US" altLang="ko-KR" sz="33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ko-KR" sz="3300" dirty="0">
                <a:solidFill>
                  <a:srgbClr val="000000"/>
                </a:solidFill>
                <a:latin typeface="+mn-ea"/>
              </a:rPr>
              <a:t>핵심</a:t>
            </a:r>
            <a:r>
              <a:rPr lang="en-US" altLang="ko-KR" sz="33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300" dirty="0">
                <a:solidFill>
                  <a:srgbClr val="000000"/>
                </a:solidFill>
                <a:latin typeface="+mn-ea"/>
              </a:rPr>
              <a:t>성과</a:t>
            </a:r>
            <a:r>
              <a:rPr lang="en-US" altLang="ko-KR" sz="33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ko-KR" sz="3300" dirty="0">
                <a:solidFill>
                  <a:srgbClr val="000000"/>
                </a:solidFill>
                <a:latin typeface="+mn-ea"/>
              </a:rPr>
              <a:t>운영</a:t>
            </a:r>
            <a:r>
              <a:rPr lang="en-US" altLang="ko-KR" sz="33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300" dirty="0">
                <a:solidFill>
                  <a:srgbClr val="000000"/>
                </a:solidFill>
                <a:latin typeface="+mn-ea"/>
              </a:rPr>
              <a:t>안정화</a:t>
            </a:r>
            <a:r>
              <a:rPr lang="en-US" altLang="ko-KR" sz="33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300" dirty="0">
                <a:solidFill>
                  <a:srgbClr val="000000"/>
                </a:solidFill>
                <a:latin typeface="+mn-ea"/>
              </a:rPr>
              <a:t>및</a:t>
            </a:r>
            <a:r>
              <a:rPr lang="en-US" altLang="ko-KR" sz="33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300" dirty="0">
                <a:solidFill>
                  <a:srgbClr val="000000"/>
                </a:solidFill>
                <a:latin typeface="+mn-ea"/>
              </a:rPr>
              <a:t>효과성</a:t>
            </a:r>
            <a:r>
              <a:rPr lang="en-US" altLang="ko-KR" sz="33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300" dirty="0">
                <a:solidFill>
                  <a:srgbClr val="000000"/>
                </a:solidFill>
                <a:latin typeface="+mn-ea"/>
              </a:rPr>
              <a:t>확인</a:t>
            </a:r>
            <a:endParaRPr lang="ko-KR" sz="3300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300" b="0" i="0" u="none" strike="noStrike" dirty="0">
                <a:solidFill>
                  <a:srgbClr val="000000"/>
                </a:solidFill>
                <a:latin typeface="+mn-ea"/>
              </a:rPr>
              <a:t>등급</a:t>
            </a:r>
            <a:r>
              <a:rPr lang="en-US" sz="33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sz="3300" b="1" i="0" u="none" strike="noStrike" dirty="0">
                <a:solidFill>
                  <a:srgbClr val="FF0000"/>
                </a:solidFill>
                <a:latin typeface="+mn-ea"/>
              </a:rPr>
              <a:t>우수</a:t>
            </a:r>
            <a:r>
              <a:rPr lang="en-US" sz="3300" b="1" i="0" u="none" strike="noStrike" dirty="0">
                <a:solidFill>
                  <a:srgbClr val="FF0000"/>
                </a:solidFill>
                <a:latin typeface="+mn-ea"/>
              </a:rPr>
              <a:t> – </a:t>
            </a:r>
            <a:r>
              <a:rPr lang="ko-KR" sz="3300" b="1" i="0" u="none" strike="noStrike" dirty="0">
                <a:solidFill>
                  <a:srgbClr val="FF0000"/>
                </a:solidFill>
                <a:latin typeface="+mn-ea"/>
              </a:rPr>
              <a:t>사업보완</a:t>
            </a: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CAD87644-2711-4397-8730-81021075C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5047524"/>
              </p:ext>
            </p:extLst>
          </p:nvPr>
        </p:nvGraphicFramePr>
        <p:xfrm>
          <a:off x="12803843" y="4533900"/>
          <a:ext cx="8796338" cy="65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18" name="Picture 7">
            <a:extLst>
              <a:ext uri="{FF2B5EF4-FFF2-40B4-BE49-F238E27FC236}">
                <a16:creationId xmlns:a16="http://schemas.microsoft.com/office/drawing/2014/main" id="{1464C9C7-1AD4-4DD2-A8C3-D2657D893E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9100" y="2133600"/>
            <a:ext cx="20447000" cy="10121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00" y="2222500"/>
            <a:ext cx="20447000" cy="1012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84100" y="7172093"/>
            <a:ext cx="8204200" cy="467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4100" y="2432515"/>
            <a:ext cx="8204200" cy="4673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en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힐링프로그램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63606" y="2879725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 err="1">
                <a:solidFill>
                  <a:srgbClr val="FF0000"/>
                </a:solidFill>
                <a:latin typeface="+mn-ea"/>
              </a:rPr>
              <a:t>힐링체험</a:t>
            </a:r>
            <a:r>
              <a:rPr lang="en-US" sz="4666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4666" b="1" i="0" u="none" strike="noStrike" dirty="0">
                <a:solidFill>
                  <a:srgbClr val="FF0000"/>
                </a:solidFill>
                <a:latin typeface="+mn-ea"/>
              </a:rPr>
              <a:t>현황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38100" y="4114335"/>
            <a:ext cx="7709556" cy="23749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ko-KR" altLang="en-US" sz="2800" b="0" i="0" u="none" strike="noStrike" dirty="0">
                <a:solidFill>
                  <a:srgbClr val="000000"/>
                </a:solidFill>
                <a:latin typeface="+mn-ea"/>
              </a:rPr>
              <a:t>평균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만족도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점수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2024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 7.3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점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 → 2025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 lvl="0" algn="l">
              <a:lnSpc>
                <a:spcPct val="116199"/>
              </a:lnSpc>
            </a:pPr>
            <a:r>
              <a:rPr lang="en-US" sz="2800" b="1" dirty="0">
                <a:solidFill>
                  <a:srgbClr val="FF0000"/>
                </a:solidFill>
                <a:latin typeface="+mn-ea"/>
              </a:rPr>
              <a:t>                                  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6.4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점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0.9</a:t>
            </a:r>
            <a:r>
              <a:rPr lang="ko-KR" altLang="en-US" sz="2800" b="1" i="0" u="none" strike="noStrike" dirty="0">
                <a:solidFill>
                  <a:srgbClr val="0070C0"/>
                </a:solidFill>
                <a:latin typeface="+mn-ea"/>
              </a:rPr>
              <a:t>점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하락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참여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현황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직원들의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참여도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감소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운영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상태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안정화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미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달성</a:t>
            </a:r>
            <a:endParaRPr lang="en-US" altLang="ko-KR" sz="2800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en-US" altLang="ko-KR" sz="2800" b="0" i="0" u="none" strike="noStrike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altLang="ko-KR" sz="2800" dirty="0">
                <a:solidFill>
                  <a:srgbClr val="000000"/>
                </a:solidFill>
                <a:latin typeface="+mn-ea"/>
              </a:rPr>
              <a:t> 평가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2800" dirty="0">
                <a:solidFill>
                  <a:srgbClr val="000000"/>
                </a:solidFill>
                <a:latin typeface="+mn-ea"/>
              </a:rPr>
              <a:t>등급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ko-KR" sz="2800" b="1" dirty="0">
                <a:solidFill>
                  <a:srgbClr val="FF0000"/>
                </a:solidFill>
                <a:latin typeface="+mn-ea"/>
              </a:rPr>
              <a:t>보통</a:t>
            </a: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 – </a:t>
            </a:r>
            <a:r>
              <a:rPr lang="ko-KR" altLang="ko-KR" sz="2800" b="1" dirty="0">
                <a:solidFill>
                  <a:srgbClr val="FF0000"/>
                </a:solidFill>
                <a:latin typeface="+mn-ea"/>
              </a:rPr>
              <a:t>사업보류</a:t>
            </a:r>
            <a:endParaRPr lang="ko-KR" sz="2800" b="1" i="0" u="none" strike="noStrike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801600" y="8039100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개선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필요사항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516506" y="9004300"/>
            <a:ext cx="8368644" cy="2717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운영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체계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부족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체계적인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프로그램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구성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필요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전문성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연계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약함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전문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강사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및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프로그램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도입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직무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연계성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강화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업무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스트레스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해소와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직접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연결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참여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구조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개선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접근성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및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참여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용이성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확보</a:t>
            </a:r>
          </a:p>
        </p:txBody>
      </p:sp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CAD87644-2711-4397-8730-81021075C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789012"/>
              </p:ext>
            </p:extLst>
          </p:nvPr>
        </p:nvGraphicFramePr>
        <p:xfrm>
          <a:off x="2647018" y="4096406"/>
          <a:ext cx="8796338" cy="65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84100" y="7172093"/>
            <a:ext cx="8204200" cy="467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4100" y="2432515"/>
            <a:ext cx="8204200" cy="4673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4500" y="556932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999" b="1" i="0" u="none" strike="noStrike" spc="160" dirty="0" err="1">
                <a:solidFill>
                  <a:srgbClr val="FF0000"/>
                </a:solidFill>
                <a:latin typeface="+mj-ea"/>
                <a:ea typeface="+mj-ea"/>
              </a:rPr>
              <a:t>힐링워크샵</a:t>
            </a:r>
            <a:endParaRPr lang="en" sz="3999" b="1" i="0" u="none" strike="noStrike" spc="16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863606" y="2879725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 err="1">
                <a:solidFill>
                  <a:srgbClr val="000000"/>
                </a:solidFill>
                <a:latin typeface="+mj-ea"/>
                <a:ea typeface="+mj-ea"/>
              </a:rPr>
              <a:t>힐링</a:t>
            </a:r>
            <a:r>
              <a:rPr lang="ko-KR" altLang="en-US" sz="4666" b="1" i="0" u="none" strike="noStrike" dirty="0" err="1">
                <a:solidFill>
                  <a:srgbClr val="000000"/>
                </a:solidFill>
                <a:latin typeface="+mj-ea"/>
                <a:ea typeface="+mj-ea"/>
              </a:rPr>
              <a:t>워크샵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현황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38100" y="4114335"/>
            <a:ext cx="7696200" cy="23749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ko-KR" altLang="en-US" sz="3000" spc="-93" dirty="0">
                <a:solidFill>
                  <a:srgbClr val="000000"/>
                </a:solidFill>
                <a:latin typeface="+mj-ea"/>
                <a:ea typeface="+mj-ea"/>
              </a:rPr>
              <a:t>평균 </a:t>
            </a:r>
            <a:r>
              <a:rPr lang="ko-KR" altLang="ko-KR" sz="3000" spc="-93" dirty="0">
                <a:solidFill>
                  <a:srgbClr val="000000"/>
                </a:solidFill>
                <a:latin typeface="+mj-ea"/>
                <a:ea typeface="+mj-ea"/>
              </a:rPr>
              <a:t>만족도</a:t>
            </a:r>
            <a:r>
              <a:rPr lang="en-US" altLang="ko-KR" sz="3000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ko-KR" sz="3000" spc="-93" dirty="0">
                <a:solidFill>
                  <a:srgbClr val="000000"/>
                </a:solidFill>
                <a:latin typeface="+mj-ea"/>
                <a:ea typeface="+mj-ea"/>
              </a:rPr>
              <a:t>점수</a:t>
            </a:r>
            <a:r>
              <a:rPr lang="en-US" altLang="ko-KR" sz="3000" spc="-93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en-US" altLang="ko-KR" sz="3000" b="1" spc="-93" dirty="0">
                <a:solidFill>
                  <a:srgbClr val="FF0000"/>
                </a:solidFill>
                <a:latin typeface="+mj-ea"/>
                <a:ea typeface="+mj-ea"/>
              </a:rPr>
              <a:t>2024</a:t>
            </a:r>
            <a:r>
              <a:rPr lang="ko-KR" altLang="ko-KR" sz="3000" b="1" spc="-93" dirty="0">
                <a:solidFill>
                  <a:srgbClr val="FF0000"/>
                </a:solidFill>
                <a:latin typeface="+mj-ea"/>
                <a:ea typeface="+mj-ea"/>
              </a:rPr>
              <a:t>년</a:t>
            </a:r>
            <a:r>
              <a:rPr lang="en-US" altLang="ko-KR" sz="3000" b="1" spc="-93" dirty="0">
                <a:solidFill>
                  <a:srgbClr val="FF0000"/>
                </a:solidFill>
                <a:latin typeface="+mj-ea"/>
                <a:ea typeface="+mj-ea"/>
              </a:rPr>
              <a:t> 7.3</a:t>
            </a:r>
            <a:r>
              <a:rPr lang="ko-KR" altLang="ko-KR" sz="3000" b="1" spc="-93" dirty="0">
                <a:solidFill>
                  <a:srgbClr val="FF0000"/>
                </a:solidFill>
                <a:latin typeface="+mj-ea"/>
                <a:ea typeface="+mj-ea"/>
              </a:rPr>
              <a:t>점</a:t>
            </a:r>
            <a:r>
              <a:rPr lang="en-US" altLang="ko-KR" sz="3000" b="1" spc="-93" dirty="0">
                <a:solidFill>
                  <a:srgbClr val="FF0000"/>
                </a:solidFill>
                <a:latin typeface="+mj-ea"/>
                <a:ea typeface="+mj-ea"/>
              </a:rPr>
              <a:t>-&gt;2025</a:t>
            </a:r>
            <a:r>
              <a:rPr lang="ko-KR" altLang="ko-KR" sz="3000" b="1" spc="-93" dirty="0">
                <a:solidFill>
                  <a:srgbClr val="FF0000"/>
                </a:solidFill>
                <a:latin typeface="+mj-ea"/>
                <a:ea typeface="+mj-ea"/>
              </a:rPr>
              <a:t>년</a:t>
            </a:r>
            <a:r>
              <a:rPr lang="en-US" altLang="ko-KR" sz="3000" b="1" spc="-93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  <a:p>
            <a:pPr lvl="0">
              <a:lnSpc>
                <a:spcPct val="116199"/>
              </a:lnSpc>
            </a:pPr>
            <a:r>
              <a:rPr lang="en-US" altLang="ko-KR" sz="3000" b="1" spc="-93" dirty="0">
                <a:solidFill>
                  <a:srgbClr val="FF0000"/>
                </a:solidFill>
                <a:latin typeface="+mj-ea"/>
                <a:ea typeface="+mj-ea"/>
              </a:rPr>
              <a:t>                               7.4</a:t>
            </a:r>
            <a:r>
              <a:rPr lang="ko-KR" altLang="ko-KR" sz="3000" b="1" spc="-93" dirty="0">
                <a:solidFill>
                  <a:srgbClr val="FF0000"/>
                </a:solidFill>
                <a:latin typeface="+mj-ea"/>
                <a:ea typeface="+mj-ea"/>
              </a:rPr>
              <a:t>점</a:t>
            </a:r>
            <a:r>
              <a:rPr lang="ko-KR" altLang="en-US" sz="3000" b="1" spc="-93" dirty="0">
                <a:solidFill>
                  <a:srgbClr val="FF0000"/>
                </a:solidFill>
                <a:latin typeface="+mj-ea"/>
                <a:ea typeface="+mj-ea"/>
              </a:rPr>
              <a:t>으로 </a:t>
            </a:r>
            <a:r>
              <a:rPr lang="en-US" altLang="ko-KR" sz="3000" b="1" spc="-93" dirty="0">
                <a:solidFill>
                  <a:srgbClr val="FF0000"/>
                </a:solidFill>
                <a:latin typeface="+mj-ea"/>
                <a:ea typeface="+mj-ea"/>
              </a:rPr>
              <a:t>0.1</a:t>
            </a:r>
            <a:r>
              <a:rPr lang="ko-KR" altLang="en-US" sz="3000" spc="-93" dirty="0">
                <a:solidFill>
                  <a:srgbClr val="000000"/>
                </a:solidFill>
                <a:latin typeface="+mj-ea"/>
                <a:ea typeface="+mj-ea"/>
              </a:rPr>
              <a:t>점 상승</a:t>
            </a:r>
            <a:endParaRPr lang="ko-KR" altLang="ko-KR" sz="3000" spc="-93" dirty="0">
              <a:solidFill>
                <a:srgbClr val="000000"/>
              </a:solidFill>
              <a:latin typeface="+mj-ea"/>
              <a:ea typeface="+mj-ea"/>
            </a:endParaRPr>
          </a:p>
          <a:p>
            <a:pPr lvl="0">
              <a:lnSpc>
                <a:spcPct val="116199"/>
              </a:lnSpc>
            </a:pPr>
            <a:r>
              <a:rPr lang="en-US" altLang="ko-KR" sz="3000" dirty="0">
                <a:solidFill>
                  <a:srgbClr val="000000"/>
                </a:solidFill>
                <a:latin typeface="+mj-ea"/>
                <a:ea typeface="+mj-ea"/>
              </a:rPr>
              <a:t>-</a:t>
            </a:r>
            <a:r>
              <a:rPr lang="ko-KR" altLang="ko-KR" sz="3000" dirty="0">
                <a:solidFill>
                  <a:srgbClr val="000000"/>
                </a:solidFill>
                <a:latin typeface="+mj-ea"/>
                <a:ea typeface="+mj-ea"/>
              </a:rPr>
              <a:t> 평가</a:t>
            </a:r>
            <a:r>
              <a:rPr lang="en-US" altLang="ko-KR" sz="300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ko-KR" sz="3000" dirty="0">
                <a:solidFill>
                  <a:srgbClr val="000000"/>
                </a:solidFill>
                <a:latin typeface="+mj-ea"/>
                <a:ea typeface="+mj-ea"/>
              </a:rPr>
              <a:t>등급</a:t>
            </a:r>
            <a:r>
              <a:rPr lang="en-US" altLang="ko-KR" sz="3000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altLang="en-US" sz="3000" b="1" dirty="0">
                <a:solidFill>
                  <a:srgbClr val="FF0000"/>
                </a:solidFill>
                <a:latin typeface="+mj-ea"/>
                <a:ea typeface="+mj-ea"/>
              </a:rPr>
              <a:t>우수</a:t>
            </a:r>
            <a:r>
              <a:rPr lang="en-US" altLang="ko-KR" sz="3000" b="1" dirty="0">
                <a:solidFill>
                  <a:srgbClr val="FF0000"/>
                </a:solidFill>
                <a:latin typeface="+mj-ea"/>
                <a:ea typeface="+mj-ea"/>
              </a:rPr>
              <a:t> – </a:t>
            </a:r>
            <a:r>
              <a:rPr lang="ko-KR" altLang="ko-KR" sz="3000" b="1" dirty="0">
                <a:solidFill>
                  <a:srgbClr val="FF0000"/>
                </a:solidFill>
                <a:latin typeface="+mj-ea"/>
                <a:ea typeface="+mj-ea"/>
              </a:rPr>
              <a:t>사업</a:t>
            </a:r>
            <a:r>
              <a:rPr lang="ko-KR" altLang="en-US" sz="3000" b="1" dirty="0">
                <a:solidFill>
                  <a:srgbClr val="FF0000"/>
                </a:solidFill>
                <a:latin typeface="+mj-ea"/>
                <a:ea typeface="+mj-ea"/>
              </a:rPr>
              <a:t>보완</a:t>
            </a:r>
            <a:endParaRPr lang="ko-KR" altLang="ko-KR" sz="30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801600" y="7651750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altLang="en-US" sz="4666" b="1" dirty="0">
                <a:solidFill>
                  <a:srgbClr val="000000"/>
                </a:solidFill>
                <a:latin typeface="+mj-ea"/>
                <a:ea typeface="+mj-ea"/>
              </a:rPr>
              <a:t>운영상태</a:t>
            </a:r>
            <a:endParaRPr lang="ko-KR" sz="4666" b="1" i="0" u="none" strike="noStrike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801600" y="8487380"/>
            <a:ext cx="7696200" cy="3234719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3000" spc="-93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ko-KR" sz="3000" spc="-93" dirty="0">
                <a:solidFill>
                  <a:srgbClr val="000000"/>
                </a:solidFill>
                <a:latin typeface="+mn-ea"/>
              </a:rPr>
              <a:t>안정화</a:t>
            </a:r>
            <a:r>
              <a:rPr lang="en-US" altLang="ko-KR" sz="3000" spc="-93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000" spc="-93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altLang="ko-KR" sz="3000" spc="-93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000" spc="-93" dirty="0">
                <a:solidFill>
                  <a:srgbClr val="000000"/>
                </a:solidFill>
                <a:latin typeface="+mn-ea"/>
              </a:rPr>
              <a:t>진입</a:t>
            </a:r>
          </a:p>
          <a:p>
            <a:pPr lvl="0">
              <a:lnSpc>
                <a:spcPct val="116199"/>
              </a:lnSpc>
            </a:pPr>
            <a:r>
              <a:rPr lang="en-US" altLang="ko-KR" sz="3000" spc="-93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ko-KR" sz="3000" spc="-93" dirty="0">
                <a:solidFill>
                  <a:srgbClr val="000000"/>
                </a:solidFill>
                <a:latin typeface="+mn-ea"/>
              </a:rPr>
              <a:t>소폭</a:t>
            </a:r>
            <a:r>
              <a:rPr lang="en-US" altLang="ko-KR" sz="3000" spc="-93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000" spc="-93" dirty="0">
                <a:solidFill>
                  <a:srgbClr val="000000"/>
                </a:solidFill>
                <a:latin typeface="+mn-ea"/>
              </a:rPr>
              <a:t>성장</a:t>
            </a:r>
            <a:r>
              <a:rPr lang="en-US" altLang="ko-KR" sz="3000" spc="-93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000" spc="-93" dirty="0">
                <a:solidFill>
                  <a:srgbClr val="000000"/>
                </a:solidFill>
                <a:latin typeface="+mn-ea"/>
              </a:rPr>
              <a:t>확인</a:t>
            </a: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ko-KR" altLang="ko-KR" sz="3000" spc="-93" dirty="0">
                <a:solidFill>
                  <a:srgbClr val="000000"/>
                </a:solidFill>
                <a:latin typeface="+mn-ea"/>
              </a:rPr>
              <a:t>지속적</a:t>
            </a:r>
            <a:r>
              <a:rPr lang="en-US" altLang="ko-KR" sz="3000" spc="-93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000" spc="-93" dirty="0">
                <a:solidFill>
                  <a:srgbClr val="000000"/>
                </a:solidFill>
                <a:latin typeface="+mn-ea"/>
              </a:rPr>
              <a:t>운영</a:t>
            </a:r>
            <a:r>
              <a:rPr lang="en-US" altLang="ko-KR" sz="3000" spc="-93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000" spc="-93" dirty="0">
                <a:solidFill>
                  <a:srgbClr val="000000"/>
                </a:solidFill>
                <a:latin typeface="+mn-ea"/>
              </a:rPr>
              <a:t>가능성</a:t>
            </a:r>
            <a:r>
              <a:rPr lang="en-US" altLang="ko-KR" sz="3000" spc="-93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000" spc="-93" dirty="0">
                <a:solidFill>
                  <a:srgbClr val="000000"/>
                </a:solidFill>
                <a:latin typeface="+mn-ea"/>
              </a:rPr>
              <a:t>높음</a:t>
            </a:r>
            <a:endParaRPr lang="en-US" altLang="ko-KR" sz="3000" spc="-93" dirty="0">
              <a:solidFill>
                <a:srgbClr val="000000"/>
              </a:solidFill>
              <a:latin typeface="+mn-ea"/>
            </a:endParaRPr>
          </a:p>
          <a:p>
            <a:pPr marL="457200" lvl="0" indent="-457200">
              <a:lnSpc>
                <a:spcPct val="116199"/>
              </a:lnSpc>
              <a:buFontTx/>
              <a:buChar char="-"/>
            </a:pP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핵심가치인 소통</a:t>
            </a: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마음의 안정</a:t>
            </a: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근무만족도 향상에 효과적이었음</a:t>
            </a:r>
            <a:endParaRPr lang="ko-KR" altLang="ko-KR" sz="3000" spc="-93" dirty="0">
              <a:solidFill>
                <a:srgbClr val="FF000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en-US" altLang="ko-KR" sz="3000" spc="-93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3000" b="1" spc="-93" dirty="0">
                <a:solidFill>
                  <a:srgbClr val="0070C0"/>
                </a:solidFill>
                <a:latin typeface="+mn-ea"/>
              </a:rPr>
              <a:t>의견 수렴을 통한 </a:t>
            </a:r>
            <a:r>
              <a:rPr lang="ko-KR" altLang="ko-KR" sz="3000" b="1" spc="-93" dirty="0">
                <a:solidFill>
                  <a:srgbClr val="0070C0"/>
                </a:solidFill>
                <a:latin typeface="+mn-ea"/>
              </a:rPr>
              <a:t>프로그램</a:t>
            </a:r>
            <a:r>
              <a:rPr lang="en-US" altLang="ko-KR" sz="3000" b="1" spc="-93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ko-KR" sz="3000" b="1" spc="-93" dirty="0">
                <a:solidFill>
                  <a:srgbClr val="0070C0"/>
                </a:solidFill>
                <a:latin typeface="+mn-ea"/>
              </a:rPr>
              <a:t>내실화</a:t>
            </a:r>
            <a:r>
              <a:rPr lang="en-US" altLang="ko-KR" sz="3000" b="1" spc="-93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ko-KR" sz="3000" b="1" spc="-93" dirty="0">
                <a:solidFill>
                  <a:srgbClr val="0070C0"/>
                </a:solidFill>
                <a:latin typeface="+mn-ea"/>
              </a:rPr>
              <a:t>필요</a:t>
            </a:r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CAD87644-2711-4397-8730-81021075C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712064"/>
              </p:ext>
            </p:extLst>
          </p:nvPr>
        </p:nvGraphicFramePr>
        <p:xfrm>
          <a:off x="2872207" y="4128807"/>
          <a:ext cx="8796338" cy="65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  <p:extLst>
      <p:ext uri="{BB962C8B-B14F-4D97-AF65-F5344CB8AC3E}">
        <p14:creationId xmlns:p14="http://schemas.microsoft.com/office/powerpoint/2010/main" val="3605291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en" sz="3999" b="1" i="0" u="none" strike="noStrike" spc="160" dirty="0">
                <a:solidFill>
                  <a:srgbClr val="FF0000"/>
                </a:solidFill>
                <a:latin typeface="+mn-ea"/>
              </a:rPr>
              <a:t>힐링캠프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28900" y="3759200"/>
            <a:ext cx="104140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만족도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변화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추이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28900" y="4838700"/>
            <a:ext cx="10363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000" b="0" i="0" u="none" strike="noStrike" dirty="0" err="1">
                <a:solidFill>
                  <a:srgbClr val="000000"/>
                </a:solidFill>
                <a:latin typeface="+mn-ea"/>
              </a:rPr>
              <a:t>힐링캠프는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직원들의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정서적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안정과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소통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강화를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위해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운영된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프로그램입니다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. 2024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년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대비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2025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년에</a:t>
            </a:r>
            <a:r>
              <a:rPr lang="en-US" sz="30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만족도가</a:t>
            </a:r>
            <a:r>
              <a:rPr lang="en-US" sz="30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크게</a:t>
            </a:r>
            <a:r>
              <a:rPr lang="en-US" sz="30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상승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하며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효과성이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입증되었습니다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28900" y="7389907"/>
            <a:ext cx="104140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핵심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성과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33600" y="8324102"/>
            <a:ext cx="10363200" cy="3397997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16199"/>
              </a:lnSpc>
            </a:pPr>
            <a:r>
              <a:rPr lang="en-US" altLang="ko-KR" sz="30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3000" dirty="0">
                <a:solidFill>
                  <a:srgbClr val="000000"/>
                </a:solidFill>
                <a:latin typeface="+mn-ea"/>
              </a:rPr>
              <a:t>평균 </a:t>
            </a:r>
            <a:r>
              <a:rPr lang="ko-KR" altLang="ko-KR" sz="3000" dirty="0">
                <a:solidFill>
                  <a:srgbClr val="000000"/>
                </a:solidFill>
                <a:latin typeface="+mn-ea"/>
              </a:rPr>
              <a:t>만족도</a:t>
            </a:r>
            <a:r>
              <a:rPr lang="en-US" altLang="ko-KR" sz="3000" b="1" dirty="0">
                <a:solidFill>
                  <a:srgbClr val="FF0000"/>
                </a:solidFill>
                <a:latin typeface="+mn-ea"/>
              </a:rPr>
              <a:t>: 2024</a:t>
            </a:r>
            <a:r>
              <a:rPr lang="ko-KR" altLang="ko-KR" sz="3000" b="1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altLang="ko-KR" sz="3000" b="1" dirty="0">
                <a:solidFill>
                  <a:srgbClr val="FF0000"/>
                </a:solidFill>
                <a:latin typeface="+mn-ea"/>
              </a:rPr>
              <a:t> 6.5</a:t>
            </a:r>
            <a:r>
              <a:rPr lang="ko-KR" altLang="ko-KR" sz="3000" b="1" dirty="0">
                <a:solidFill>
                  <a:srgbClr val="FF0000"/>
                </a:solidFill>
                <a:latin typeface="+mn-ea"/>
              </a:rPr>
              <a:t>점</a:t>
            </a:r>
            <a:r>
              <a:rPr lang="en-US" altLang="ko-KR" sz="3000" b="1" dirty="0">
                <a:solidFill>
                  <a:srgbClr val="FF0000"/>
                </a:solidFill>
                <a:latin typeface="+mn-ea"/>
              </a:rPr>
              <a:t> → 2025</a:t>
            </a:r>
            <a:r>
              <a:rPr lang="ko-KR" altLang="ko-KR" sz="3000" b="1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altLang="ko-KR" sz="3000" b="1" dirty="0">
                <a:solidFill>
                  <a:srgbClr val="FF0000"/>
                </a:solidFill>
                <a:latin typeface="+mn-ea"/>
              </a:rPr>
              <a:t> 7.5</a:t>
            </a:r>
            <a:r>
              <a:rPr lang="ko-KR" altLang="ko-KR" sz="3000" b="1" dirty="0">
                <a:solidFill>
                  <a:srgbClr val="FF0000"/>
                </a:solidFill>
                <a:latin typeface="+mn-ea"/>
              </a:rPr>
              <a:t>점</a:t>
            </a:r>
            <a:r>
              <a:rPr lang="en-US" altLang="ko-KR" sz="3000" b="1" dirty="0">
                <a:solidFill>
                  <a:srgbClr val="FF0000"/>
                </a:solidFill>
                <a:latin typeface="+mn-ea"/>
              </a:rPr>
              <a:t> 1.0</a:t>
            </a:r>
            <a:r>
              <a:rPr lang="ko-KR" altLang="en-US" sz="3000" b="1" dirty="0">
                <a:solidFill>
                  <a:srgbClr val="FF0000"/>
                </a:solidFill>
                <a:latin typeface="+mn-ea"/>
              </a:rPr>
              <a:t>점 상승</a:t>
            </a:r>
            <a:endParaRPr lang="ko-KR" altLang="ko-KR" sz="3000" b="1" dirty="0">
              <a:solidFill>
                <a:srgbClr val="FF000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en-US" altLang="ko-KR" sz="30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직원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소통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강화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부서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간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교류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활성화</a:t>
            </a:r>
          </a:p>
          <a:p>
            <a:pPr lvl="0" algn="l">
              <a:lnSpc>
                <a:spcPct val="116199"/>
              </a:lnSpc>
            </a:pPr>
            <a:r>
              <a:rPr lang="en-US" altLang="ko-KR" sz="30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정서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안정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효과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확인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스트레스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감소</a:t>
            </a:r>
            <a:endParaRPr lang="en-US" altLang="ko-KR" sz="3000" b="0" i="0" u="none" strike="noStrike" dirty="0">
              <a:solidFill>
                <a:srgbClr val="000000"/>
              </a:solidFill>
              <a:latin typeface="+mn-ea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30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en-US" sz="3000" b="1" dirty="0">
                <a:solidFill>
                  <a:srgbClr val="0070C0"/>
                </a:solidFill>
                <a:latin typeface="+mn-ea"/>
              </a:rPr>
              <a:t>참여방법</a:t>
            </a:r>
            <a:r>
              <a:rPr lang="en-US" altLang="ko-KR" sz="3000" b="1" dirty="0">
                <a:solidFill>
                  <a:srgbClr val="0070C0"/>
                </a:solidFill>
                <a:latin typeface="+mn-ea"/>
              </a:rPr>
              <a:t>(1</a:t>
            </a:r>
            <a:r>
              <a:rPr lang="ko-KR" altLang="en-US" sz="3000" b="1" dirty="0">
                <a:solidFill>
                  <a:srgbClr val="0070C0"/>
                </a:solidFill>
                <a:latin typeface="+mn-ea"/>
              </a:rPr>
              <a:t>박 여부</a:t>
            </a:r>
            <a:r>
              <a:rPr lang="en-US" altLang="ko-KR" sz="3000" b="1" dirty="0">
                <a:solidFill>
                  <a:srgbClr val="0070C0"/>
                </a:solidFill>
                <a:latin typeface="+mn-ea"/>
              </a:rPr>
              <a:t>)</a:t>
            </a:r>
            <a:r>
              <a:rPr lang="ko-KR" altLang="en-US" sz="3000" b="1" dirty="0">
                <a:solidFill>
                  <a:srgbClr val="0070C0"/>
                </a:solidFill>
                <a:latin typeface="+mn-ea"/>
              </a:rPr>
              <a:t>개선 필요</a:t>
            </a:r>
            <a:endParaRPr lang="en-US" altLang="ko-KR" sz="3000" b="1" i="0" u="none" strike="noStrike" dirty="0">
              <a:solidFill>
                <a:srgbClr val="0070C0"/>
              </a:solidFill>
              <a:latin typeface="+mn-ea"/>
            </a:endParaRPr>
          </a:p>
          <a:p>
            <a:pPr>
              <a:lnSpc>
                <a:spcPct val="116199"/>
              </a:lnSpc>
            </a:pPr>
            <a:r>
              <a:rPr lang="en-US" altLang="ko-KR" sz="3000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altLang="ko-KR" sz="3000" dirty="0">
                <a:solidFill>
                  <a:srgbClr val="000000"/>
                </a:solidFill>
                <a:latin typeface="+mn-ea"/>
              </a:rPr>
              <a:t> 평가</a:t>
            </a:r>
            <a:r>
              <a:rPr lang="en-US" altLang="ko-KR" sz="30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3000" dirty="0">
                <a:solidFill>
                  <a:srgbClr val="000000"/>
                </a:solidFill>
                <a:latin typeface="+mn-ea"/>
              </a:rPr>
              <a:t>등급</a:t>
            </a:r>
            <a:r>
              <a:rPr lang="en-US" altLang="ko-KR" sz="30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3000" b="1" dirty="0">
                <a:solidFill>
                  <a:srgbClr val="FF0000"/>
                </a:solidFill>
                <a:latin typeface="+mn-ea"/>
              </a:rPr>
              <a:t>우수</a:t>
            </a:r>
            <a:r>
              <a:rPr lang="en-US" altLang="ko-KR" sz="3000" b="1" dirty="0">
                <a:solidFill>
                  <a:srgbClr val="FF0000"/>
                </a:solidFill>
                <a:latin typeface="+mn-ea"/>
              </a:rPr>
              <a:t> – </a:t>
            </a:r>
            <a:r>
              <a:rPr lang="ko-KR" altLang="ko-KR" sz="3000" b="1" dirty="0">
                <a:solidFill>
                  <a:srgbClr val="FF0000"/>
                </a:solidFill>
                <a:latin typeface="+mn-ea"/>
              </a:rPr>
              <a:t>사업</a:t>
            </a:r>
            <a:r>
              <a:rPr lang="ko-KR" altLang="en-US" sz="3000" b="1" dirty="0">
                <a:solidFill>
                  <a:srgbClr val="FF0000"/>
                </a:solidFill>
                <a:latin typeface="+mn-ea"/>
              </a:rPr>
              <a:t>보완</a:t>
            </a:r>
            <a:endParaRPr lang="ko-KR" altLang="ko-KR" sz="3000" b="1" dirty="0">
              <a:solidFill>
                <a:srgbClr val="FF0000"/>
              </a:solidFill>
              <a:latin typeface="+mn-ea"/>
            </a:endParaRPr>
          </a:p>
          <a:p>
            <a:pPr marL="571500" lvl="0" indent="-571500" algn="l">
              <a:lnSpc>
                <a:spcPct val="116199"/>
              </a:lnSpc>
              <a:buFontTx/>
              <a:buChar char="-"/>
            </a:pPr>
            <a:endParaRPr lang="en-US" altLang="ko-KR" sz="3000" b="0" i="0" u="none" strike="noStrike" dirty="0">
              <a:solidFill>
                <a:srgbClr val="000000"/>
              </a:solidFill>
              <a:latin typeface="+mn-ea"/>
            </a:endParaRPr>
          </a:p>
          <a:p>
            <a:pPr marL="571500" lvl="0" indent="-571500" algn="l">
              <a:lnSpc>
                <a:spcPct val="116199"/>
              </a:lnSpc>
              <a:buFontTx/>
              <a:buChar char="-"/>
            </a:pPr>
            <a:endParaRPr lang="ko-KR" sz="3000" b="0" i="0" u="none" strike="noStrike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CAD87644-2711-4397-8730-81021075C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1921226"/>
              </p:ext>
            </p:extLst>
          </p:nvPr>
        </p:nvGraphicFramePr>
        <p:xfrm>
          <a:off x="12192000" y="4526056"/>
          <a:ext cx="8796338" cy="65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19" name="Picture 7">
            <a:extLst>
              <a:ext uri="{FF2B5EF4-FFF2-40B4-BE49-F238E27FC236}">
                <a16:creationId xmlns:a16="http://schemas.microsoft.com/office/drawing/2014/main" id="{19CDAB23-5676-4BB0-8A68-D3FFBE2C9F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8582" y="7321550"/>
            <a:ext cx="8204200" cy="467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88582" y="2532247"/>
            <a:ext cx="8204200" cy="4673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동아리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72782" y="2879725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만족도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변화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88582" y="4138519"/>
            <a:ext cx="8289930" cy="23749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ko-KR" altLang="en-US" sz="2800" dirty="0">
                <a:solidFill>
                  <a:srgbClr val="000000"/>
                </a:solidFill>
                <a:latin typeface="+mj-ea"/>
                <a:ea typeface="+mj-ea"/>
              </a:rPr>
              <a:t>평균 만족도 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2024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년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8.7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점</a:t>
            </a:r>
            <a:r>
              <a:rPr lang="en-US" alt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-&gt;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2025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년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6.7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점</a:t>
            </a:r>
            <a:r>
              <a:rPr lang="en-US" altLang="ko-KR" sz="28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alt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2.0</a:t>
            </a:r>
            <a:r>
              <a:rPr lang="ko-KR" alt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점 하락</a:t>
            </a:r>
            <a:endParaRPr lang="ko-KR" sz="2800" b="1" i="0" u="none" strike="noStrike" dirty="0">
              <a:solidFill>
                <a:srgbClr val="0070C0"/>
              </a:solidFill>
              <a:latin typeface="+mj-ea"/>
              <a:ea typeface="+mj-ea"/>
            </a:endParaRP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- 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평가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등급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보통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- 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사업</a:t>
            </a:r>
            <a:r>
              <a:rPr lang="ko-KR" alt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보류</a:t>
            </a:r>
            <a:endParaRPr lang="ko-KR" sz="2800" b="1" i="0" u="none" strike="noStrike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801600" y="8039100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하락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원인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분석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01600" y="9004300"/>
            <a:ext cx="7696200" cy="2374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참여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인원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감소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업무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부담으로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인한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참여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어려움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반복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프로그램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증가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: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신규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활동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부족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동기부여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요소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부족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참여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의욕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저하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운영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방식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개선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필요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접근성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및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흥미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요소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강화</a:t>
            </a:r>
          </a:p>
        </p:txBody>
      </p:sp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CAD87644-2711-4397-8730-81021075C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1757239"/>
              </p:ext>
            </p:extLst>
          </p:nvPr>
        </p:nvGraphicFramePr>
        <p:xfrm>
          <a:off x="2869966" y="3909359"/>
          <a:ext cx="8796338" cy="65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14500" y="1961776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10994" y="6918825"/>
            <a:ext cx="8204200" cy="467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10994" y="2514600"/>
            <a:ext cx="8204200" cy="4673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한마음체육대회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13285" y="2877484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만족도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점수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변화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52400" y="4118349"/>
            <a:ext cx="7696200" cy="2374900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ko-KR" alt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평균 만족도 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2024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년</a:t>
            </a:r>
            <a:r>
              <a:rPr lang="en-US" altLang="ko-KR" sz="28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7.3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점</a:t>
            </a:r>
            <a:r>
              <a:rPr lang="en-US" alt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-&gt;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2025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년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6.4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점</a:t>
            </a:r>
            <a:endParaRPr lang="en-US" altLang="ko-KR" sz="2800" b="1" i="0" u="none" strike="noStrike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   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0.9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점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하락</a:t>
            </a:r>
          </a:p>
          <a:p>
            <a:pPr lvl="0">
              <a:lnSpc>
                <a:spcPct val="116199"/>
              </a:lnSpc>
            </a:pPr>
            <a:r>
              <a:rPr lang="en-US" altLang="ko-KR" sz="2800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altLang="ko-KR" sz="2800" dirty="0">
                <a:solidFill>
                  <a:srgbClr val="000000"/>
                </a:solidFill>
                <a:latin typeface="+mj-ea"/>
                <a:ea typeface="+mj-ea"/>
              </a:rPr>
              <a:t>평가</a:t>
            </a:r>
            <a:r>
              <a:rPr lang="en-US" altLang="ko-KR" sz="280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ko-KR" sz="2800" dirty="0">
                <a:solidFill>
                  <a:srgbClr val="000000"/>
                </a:solidFill>
                <a:latin typeface="+mj-ea"/>
                <a:ea typeface="+mj-ea"/>
              </a:rPr>
              <a:t>등급</a:t>
            </a:r>
            <a:r>
              <a:rPr lang="en-US" altLang="ko-KR" sz="2800" dirty="0">
                <a:solidFill>
                  <a:srgbClr val="000000"/>
                </a:solidFill>
                <a:latin typeface="+mj-ea"/>
                <a:ea typeface="+mj-ea"/>
              </a:rPr>
              <a:t>: </a:t>
            </a:r>
            <a:r>
              <a:rPr lang="ko-KR" altLang="ko-KR" sz="2800" b="1" dirty="0">
                <a:solidFill>
                  <a:srgbClr val="FF0000"/>
                </a:solidFill>
                <a:latin typeface="+mj-ea"/>
                <a:ea typeface="+mj-ea"/>
              </a:rPr>
              <a:t>보통</a:t>
            </a:r>
            <a:r>
              <a:rPr lang="en-US" altLang="ko-KR" sz="2800" b="1" dirty="0">
                <a:solidFill>
                  <a:srgbClr val="FF0000"/>
                </a:solidFill>
                <a:latin typeface="+mj-ea"/>
                <a:ea typeface="+mj-ea"/>
              </a:rPr>
              <a:t> - </a:t>
            </a:r>
            <a:r>
              <a:rPr lang="ko-KR" altLang="ko-KR" sz="2800" b="1" dirty="0">
                <a:solidFill>
                  <a:srgbClr val="FF0000"/>
                </a:solidFill>
                <a:latin typeface="+mj-ea"/>
                <a:ea typeface="+mj-ea"/>
              </a:rPr>
              <a:t>사업</a:t>
            </a:r>
            <a:r>
              <a:rPr lang="ko-KR" altLang="en-US" sz="2800" b="1" dirty="0">
                <a:solidFill>
                  <a:srgbClr val="FF0000"/>
                </a:solidFill>
                <a:latin typeface="+mj-ea"/>
                <a:ea typeface="+mj-ea"/>
              </a:rPr>
              <a:t>보류</a:t>
            </a:r>
            <a:endParaRPr lang="ko-KR" altLang="ko-KR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lvl="0" indent="-457200" algn="l">
              <a:lnSpc>
                <a:spcPct val="116199"/>
              </a:lnSpc>
              <a:buFontTx/>
              <a:buChar char="-"/>
            </a:pPr>
            <a:endParaRPr lang="ko-KR" sz="2800" b="0" i="0" u="none" strike="noStrike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750800" y="7190815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운영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개선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필요성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01600" y="8016315"/>
            <a:ext cx="7696200" cy="2374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운영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방식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재설계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필요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참여자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피드백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반영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미흡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프로그램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다양성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부족</a:t>
            </a:r>
          </a:p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지속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여부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검토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j-ea"/>
                <a:ea typeface="+mj-ea"/>
              </a:rPr>
              <a:t>단계</a:t>
            </a:r>
            <a:endParaRPr lang="en-US" altLang="ko-KR" sz="2800" b="1" i="0" u="none" strike="noStrike" dirty="0">
              <a:solidFill>
                <a:srgbClr val="0070C0"/>
              </a:solidFill>
              <a:latin typeface="+mj-ea"/>
              <a:ea typeface="+mj-ea"/>
            </a:endParaRPr>
          </a:p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ko-KR" altLang="en-US" sz="2800" b="1" dirty="0">
                <a:solidFill>
                  <a:srgbClr val="0070C0"/>
                </a:solidFill>
                <a:latin typeface="+mj-ea"/>
                <a:ea typeface="+mj-ea"/>
              </a:rPr>
              <a:t>핵심가치인 소통</a:t>
            </a:r>
            <a:r>
              <a:rPr lang="en-US" altLang="ko-KR" sz="2800" b="1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sz="2800" b="1" dirty="0">
                <a:solidFill>
                  <a:srgbClr val="0070C0"/>
                </a:solidFill>
                <a:latin typeface="+mj-ea"/>
                <a:ea typeface="+mj-ea"/>
              </a:rPr>
              <a:t>법인이해</a:t>
            </a:r>
            <a:r>
              <a:rPr lang="en-US" altLang="ko-KR" sz="2800" b="1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sz="2800" b="1" dirty="0" err="1">
                <a:solidFill>
                  <a:srgbClr val="0070C0"/>
                </a:solidFill>
                <a:latin typeface="+mj-ea"/>
                <a:ea typeface="+mj-ea"/>
              </a:rPr>
              <a:t>근무만족도향상</a:t>
            </a:r>
            <a:r>
              <a:rPr lang="en-US" altLang="ko-KR" sz="2800" b="1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sz="2800" b="1" dirty="0">
                <a:solidFill>
                  <a:srgbClr val="0070C0"/>
                </a:solidFill>
                <a:latin typeface="+mj-ea"/>
                <a:ea typeface="+mj-ea"/>
              </a:rPr>
              <a:t>계속운영에 긍정적결과를 보임</a:t>
            </a:r>
            <a:r>
              <a:rPr lang="en-US" altLang="ko-KR" sz="2800" b="1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sz="2800" b="1" dirty="0">
                <a:solidFill>
                  <a:srgbClr val="0070C0"/>
                </a:solidFill>
                <a:latin typeface="+mj-ea"/>
                <a:ea typeface="+mj-ea"/>
              </a:rPr>
              <a:t>운영개선이 필요함</a:t>
            </a:r>
            <a:endParaRPr lang="ko-KR" sz="2800" b="1" i="0" u="none" strike="noStrike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graphicFrame>
        <p:nvGraphicFramePr>
          <p:cNvPr id="19" name="차트 18">
            <a:extLst>
              <a:ext uri="{FF2B5EF4-FFF2-40B4-BE49-F238E27FC236}">
                <a16:creationId xmlns:a16="http://schemas.microsoft.com/office/drawing/2014/main" id="{CAD87644-2711-4397-8730-81021075C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5154860"/>
              </p:ext>
            </p:extLst>
          </p:nvPr>
        </p:nvGraphicFramePr>
        <p:xfrm>
          <a:off x="3215624" y="3886574"/>
          <a:ext cx="8796338" cy="65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325090" y="711200"/>
            <a:ext cx="19204709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역량강화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교육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28900" y="3155950"/>
            <a:ext cx="104140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FF0000"/>
                </a:solidFill>
                <a:latin typeface="+mn-ea"/>
              </a:rPr>
              <a:t>디지털</a:t>
            </a:r>
            <a:r>
              <a:rPr lang="en-US" sz="5333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FF0000"/>
                </a:solidFill>
                <a:latin typeface="+mn-ea"/>
              </a:rPr>
              <a:t>역량교육</a:t>
            </a:r>
            <a:r>
              <a:rPr lang="en-US" sz="5333" b="1" i="0" u="none" strike="noStrike" dirty="0">
                <a:solidFill>
                  <a:srgbClr val="FF0000"/>
                </a:solidFill>
                <a:latin typeface="+mn-ea"/>
              </a:rPr>
              <a:t> (</a:t>
            </a:r>
            <a:r>
              <a:rPr lang="ko-KR" sz="5333" b="1" i="0" u="none" strike="noStrike" dirty="0">
                <a:solidFill>
                  <a:srgbClr val="FF0000"/>
                </a:solidFill>
                <a:latin typeface="+mn-ea"/>
              </a:rPr>
              <a:t>신규</a:t>
            </a:r>
            <a:r>
              <a:rPr lang="en-US" sz="5333" b="1" i="0" u="none" strike="noStrike" dirty="0">
                <a:solidFill>
                  <a:srgbClr val="FF0000"/>
                </a:solidFill>
                <a:latin typeface="+mn-ea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02006" y="4359275"/>
            <a:ext cx="9284538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2025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년에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신규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도입된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디지털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역량교육은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직원들의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디지털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역량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강화를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위해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설계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되었습니다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현재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안정적인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도입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단계에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있으며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직원들의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업무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효율성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</a:p>
          <a:p>
            <a:pPr lvl="0" algn="l">
              <a:lnSpc>
                <a:spcPct val="116199"/>
              </a:lnSpc>
            </a:pP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향상에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기여하고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있습니다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28900" y="7344335"/>
            <a:ext cx="104140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및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n-ea"/>
              </a:rPr>
              <a:t>개선점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28900" y="8597900"/>
            <a:ext cx="10363200" cy="2844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2025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평균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altLang="en-US" sz="2800" b="1" i="0" u="none" strike="noStrike" dirty="0">
                <a:solidFill>
                  <a:srgbClr val="FF0000"/>
                </a:solidFill>
                <a:latin typeface="+mn-ea"/>
              </a:rPr>
              <a:t>만족도 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점수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: 7.0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점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개선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필요사항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sz="2800" b="1" i="0" u="none" strike="noStrike" dirty="0" err="1">
                <a:solidFill>
                  <a:srgbClr val="0070C0"/>
                </a:solidFill>
                <a:latin typeface="+mn-ea"/>
              </a:rPr>
              <a:t>직무별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맞춤형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콘텐츠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강화</a:t>
            </a:r>
          </a:p>
          <a:p>
            <a:pPr lvl="0" algn="l">
              <a:lnSpc>
                <a:spcPct val="116199"/>
              </a:lnSpc>
            </a:pPr>
            <a:r>
              <a:rPr lang="en-US" altLang="ko-KR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실무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적용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사례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확대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필요</a:t>
            </a:r>
            <a:endParaRPr lang="en-US" altLang="ko-KR" sz="2800" b="0" i="0" u="none" strike="noStrike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16199"/>
              </a:lnSpc>
            </a:pP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ko-KR" sz="280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2800" dirty="0">
                <a:solidFill>
                  <a:srgbClr val="000000"/>
                </a:solidFill>
                <a:latin typeface="+mn-ea"/>
              </a:rPr>
              <a:t>결과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ko-KR" sz="2800" b="1" dirty="0">
                <a:solidFill>
                  <a:srgbClr val="FF0000"/>
                </a:solidFill>
                <a:latin typeface="+mn-ea"/>
              </a:rPr>
              <a:t>우수</a:t>
            </a: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사업보완</a:t>
            </a:r>
            <a:endParaRPr lang="ko-KR" altLang="ko-KR" sz="2800" b="1" dirty="0">
              <a:solidFill>
                <a:srgbClr val="FF0000"/>
              </a:solidFill>
              <a:latin typeface="+mn-ea"/>
            </a:endParaRPr>
          </a:p>
          <a:p>
            <a:pPr marL="571500" lvl="0" indent="-571500" algn="l">
              <a:lnSpc>
                <a:spcPct val="116199"/>
              </a:lnSpc>
              <a:buFontTx/>
              <a:buChar char="-"/>
            </a:pPr>
            <a:endParaRPr lang="ko-KR" sz="2800" b="0" i="0" u="none" strike="noStrike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C8A4F865-2531-4158-92FE-2A4C0DC4E6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0868021"/>
              </p:ext>
            </p:extLst>
          </p:nvPr>
        </p:nvGraphicFramePr>
        <p:xfrm>
          <a:off x="12217400" y="4394200"/>
          <a:ext cx="8796338" cy="65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pic>
        <p:nvPicPr>
          <p:cNvPr id="16" name="Picture 7">
            <a:extLst>
              <a:ext uri="{FF2B5EF4-FFF2-40B4-BE49-F238E27FC236}">
                <a16:creationId xmlns:a16="http://schemas.microsoft.com/office/drawing/2014/main" id="{D9EEC7C8-A36B-44EB-A83C-B4C753D62D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91394" y="4676775"/>
            <a:ext cx="8204200" cy="4673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 err="1">
                <a:solidFill>
                  <a:srgbClr val="FF0000"/>
                </a:solidFill>
                <a:latin typeface="+mj-ea"/>
                <a:ea typeface="+mj-ea"/>
              </a:rPr>
              <a:t>직능별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워크샵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평가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54000" y="5178985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만족도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점수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변화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98076" y="6270624"/>
            <a:ext cx="7696200" cy="3695701"/>
          </a:xfrm>
          <a:prstGeom prst="rect">
            <a:avLst/>
          </a:prstGeom>
        </p:spPr>
        <p:txBody>
          <a:bodyPr rtlCol="0" anchor="t"/>
          <a:lstStyle/>
          <a:p>
            <a:pPr marL="457200" lvl="0" indent="-457200" algn="l">
              <a:lnSpc>
                <a:spcPct val="116199"/>
              </a:lnSpc>
              <a:buFontTx/>
              <a:buChar char="-"/>
            </a:pPr>
            <a:r>
              <a:rPr lang="ko-KR" altLang="en-US" sz="2800" b="0" i="0" u="none" strike="noStrike" dirty="0">
                <a:solidFill>
                  <a:srgbClr val="000000"/>
                </a:solidFill>
                <a:latin typeface="+mn-ea"/>
              </a:rPr>
              <a:t>평균 만족도 </a:t>
            </a:r>
            <a:r>
              <a:rPr lang="en-US" sz="2800" b="0" i="0" u="none" strike="noStrike" dirty="0">
                <a:solidFill>
                  <a:srgbClr val="FF0000"/>
                </a:solidFill>
                <a:latin typeface="+mn-ea"/>
              </a:rPr>
              <a:t>2024</a:t>
            </a:r>
            <a:r>
              <a:rPr lang="ko-KR" sz="2800" b="0" i="0" u="none" strike="noStrike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altLang="ko-KR" sz="28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sz="2800" b="0" i="0" u="none" strike="noStrike" dirty="0">
                <a:solidFill>
                  <a:srgbClr val="FF0000"/>
                </a:solidFill>
                <a:latin typeface="+mn-ea"/>
              </a:rPr>
              <a:t>7.1</a:t>
            </a:r>
            <a:r>
              <a:rPr lang="ko-KR" sz="2800" b="0" i="0" u="none" strike="noStrike" dirty="0">
                <a:solidFill>
                  <a:srgbClr val="FF0000"/>
                </a:solidFill>
                <a:latin typeface="+mn-ea"/>
              </a:rPr>
              <a:t>점</a:t>
            </a:r>
            <a:r>
              <a:rPr lang="en-US" altLang="ko-KR" sz="2800" b="0" i="0" u="none" strike="noStrike" dirty="0">
                <a:solidFill>
                  <a:srgbClr val="FF0000"/>
                </a:solidFill>
                <a:latin typeface="+mn-ea"/>
              </a:rPr>
              <a:t>-&gt;</a:t>
            </a:r>
            <a:r>
              <a:rPr lang="en-US" sz="2800" b="0" i="0" u="none" strike="noStrike" dirty="0">
                <a:solidFill>
                  <a:srgbClr val="FF0000"/>
                </a:solidFill>
                <a:latin typeface="+mn-ea"/>
              </a:rPr>
              <a:t>2025</a:t>
            </a:r>
            <a:r>
              <a:rPr lang="ko-KR" sz="2800" b="0" i="0" u="none" strike="noStrike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altLang="ko-KR" sz="28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sz="2800" b="0" i="0" u="none" strike="noStrike" dirty="0">
                <a:solidFill>
                  <a:srgbClr val="FF0000"/>
                </a:solidFill>
                <a:latin typeface="+mn-ea"/>
              </a:rPr>
              <a:t> 6.9</a:t>
            </a:r>
            <a:r>
              <a:rPr lang="ko-KR" sz="2800" b="0" i="0" u="none" strike="noStrike" dirty="0">
                <a:solidFill>
                  <a:srgbClr val="FF0000"/>
                </a:solidFill>
                <a:latin typeface="+mn-ea"/>
              </a:rPr>
              <a:t>점</a:t>
            </a:r>
            <a:r>
              <a:rPr lang="en-US" altLang="ko-KR" sz="2800" b="0" i="0" u="none" strike="noStrike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 lvl="0" algn="l">
              <a:lnSpc>
                <a:spcPct val="116199"/>
              </a:lnSpc>
            </a:pPr>
            <a:r>
              <a:rPr lang="en-US" sz="2800" dirty="0">
                <a:solidFill>
                  <a:srgbClr val="FF0000"/>
                </a:solidFill>
                <a:latin typeface="+mn-ea"/>
              </a:rPr>
              <a:t>     </a:t>
            </a:r>
            <a:r>
              <a:rPr lang="en-US" sz="2800" b="0" i="0" u="none" strike="noStrike" dirty="0">
                <a:solidFill>
                  <a:srgbClr val="0070C0"/>
                </a:solidFill>
                <a:latin typeface="+mn-ea"/>
              </a:rPr>
              <a:t>0.2</a:t>
            </a:r>
            <a:r>
              <a:rPr lang="ko-KR" sz="2800" b="0" i="0" u="none" strike="noStrike" dirty="0">
                <a:solidFill>
                  <a:srgbClr val="0070C0"/>
                </a:solidFill>
                <a:latin typeface="+mn-ea"/>
              </a:rPr>
              <a:t>점</a:t>
            </a:r>
            <a:r>
              <a:rPr lang="en-US" sz="2800" b="0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70C0"/>
                </a:solidFill>
                <a:latin typeface="+mn-ea"/>
              </a:rPr>
              <a:t>하락</a:t>
            </a:r>
          </a:p>
          <a:p>
            <a:pPr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altLang="ko-KR" sz="280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ko-KR" sz="2800" dirty="0">
                <a:solidFill>
                  <a:srgbClr val="000000"/>
                </a:solidFill>
                <a:latin typeface="+mn-ea"/>
              </a:rPr>
              <a:t>등급</a:t>
            </a:r>
            <a:r>
              <a:rPr lang="en-US" altLang="ko-KR" sz="28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ko-KR" sz="2800" b="1" dirty="0">
                <a:solidFill>
                  <a:srgbClr val="FF0000"/>
                </a:solidFill>
                <a:latin typeface="+mn-ea"/>
              </a:rPr>
              <a:t>보통</a:t>
            </a:r>
            <a:r>
              <a:rPr lang="en-US" altLang="ko-KR" sz="2800" b="1" dirty="0">
                <a:solidFill>
                  <a:srgbClr val="FF0000"/>
                </a:solidFill>
                <a:latin typeface="+mn-ea"/>
              </a:rPr>
              <a:t> - </a:t>
            </a:r>
            <a:r>
              <a:rPr lang="ko-KR" altLang="ko-KR" sz="2800" b="1" dirty="0">
                <a:solidFill>
                  <a:srgbClr val="FF0000"/>
                </a:solidFill>
                <a:latin typeface="+mn-ea"/>
              </a:rPr>
              <a:t>사업</a:t>
            </a:r>
            <a:r>
              <a:rPr lang="ko-KR" altLang="en-US" sz="2800" b="1" dirty="0">
                <a:solidFill>
                  <a:srgbClr val="FF0000"/>
                </a:solidFill>
                <a:latin typeface="+mn-ea"/>
              </a:rPr>
              <a:t>보류</a:t>
            </a:r>
            <a:endParaRPr lang="ko-KR" altLang="ko-KR" sz="2800" b="1" dirty="0">
              <a:solidFill>
                <a:srgbClr val="FF0000"/>
              </a:solidFill>
              <a:latin typeface="+mn-ea"/>
            </a:endParaRPr>
          </a:p>
          <a:p>
            <a:pPr lvl="0">
              <a:lnSpc>
                <a:spcPct val="116199"/>
              </a:lnSpc>
            </a:pPr>
            <a:r>
              <a:rPr lang="en-US" altLang="ko-KR" sz="2800" b="0" i="0" u="none" strike="noStrike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+mn-ea"/>
              </a:rPr>
              <a:t>핵심가치인 소통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+mn-ea"/>
              </a:rPr>
              <a:t>타기관이해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+mn-ea"/>
              </a:rPr>
              <a:t>근무만족도 향상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800" b="0" i="0" u="none" strike="noStrike" dirty="0">
                <a:solidFill>
                  <a:srgbClr val="000000"/>
                </a:solidFill>
                <a:latin typeface="+mn-ea"/>
              </a:rPr>
              <a:t>계속운영에 좋은 결과를 보이고 운영평가가 낮게 나왔으므로 운영개선이 필요</a:t>
            </a:r>
            <a:endParaRPr lang="ko-KR" sz="2800" b="0" i="0" u="none" strike="noStrike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801600" y="9004300"/>
            <a:ext cx="7696200" cy="2374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endParaRPr lang="ko-KR" sz="3333" b="0" i="0" u="none" strike="noStrike" dirty="0">
              <a:solidFill>
                <a:srgbClr val="000000"/>
              </a:solidFill>
              <a:ea typeface="Nanum NeuRisNeuRisCe"/>
            </a:endParaRP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CAD87644-2711-4397-8730-81021075C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6191821"/>
              </p:ext>
            </p:extLst>
          </p:nvPr>
        </p:nvGraphicFramePr>
        <p:xfrm>
          <a:off x="3332629" y="3917950"/>
          <a:ext cx="8796338" cy="65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전문가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초청연수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28900" y="3759200"/>
            <a:ext cx="104140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신규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프로그램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성과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28900" y="4838700"/>
            <a:ext cx="8796338" cy="2133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2025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년에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새롭게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도입된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전문가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초청연수는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외부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전문가의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지식과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경험을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직원들과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공유하는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프로그램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입니다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현장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적용성이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높고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최신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</a:p>
          <a:p>
            <a:pPr lvl="0" algn="l">
              <a:lnSpc>
                <a:spcPct val="116199"/>
              </a:lnSpc>
            </a:pP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트렌드를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반영한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내용으로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구성되어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있습니다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28900" y="7671734"/>
            <a:ext cx="10414000" cy="952500"/>
          </a:xfrm>
          <a:prstGeom prst="rect">
            <a:avLst/>
          </a:prstGeom>
        </p:spPr>
        <p:txBody>
          <a:bodyPr lIns="0" tIns="0" rIns="0" bIns="67733" rtlCol="0" anchor="b"/>
          <a:lstStyle/>
          <a:p>
            <a:pPr lvl="0" algn="l">
              <a:lnSpc>
                <a:spcPct val="99600"/>
              </a:lnSpc>
            </a:pP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향후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발전</a:t>
            </a:r>
            <a:r>
              <a:rPr lang="en-US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333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방향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95282" y="8681010"/>
            <a:ext cx="10363200" cy="2844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2025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년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점수</a:t>
            </a:r>
            <a:r>
              <a:rPr lang="en-US" sz="2800" b="1" i="0" u="none" strike="noStrike" dirty="0">
                <a:solidFill>
                  <a:srgbClr val="FF0000"/>
                </a:solidFill>
                <a:latin typeface="+mn-ea"/>
              </a:rPr>
              <a:t>: 7.2</a:t>
            </a:r>
            <a:r>
              <a:rPr lang="ko-KR" sz="2800" b="1" i="0" u="none" strike="noStrike" dirty="0">
                <a:solidFill>
                  <a:srgbClr val="FF0000"/>
                </a:solidFill>
                <a:latin typeface="+mn-ea"/>
              </a:rPr>
              <a:t>점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도입기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안정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단계</a:t>
            </a: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+mn-ea"/>
              </a:rPr>
              <a:t>진입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성장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가능성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높음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분야별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전문가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풀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확대</a:t>
            </a:r>
            <a:r>
              <a:rPr lang="en-US" sz="28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2800" b="1" i="0" u="none" strike="noStrike" dirty="0">
                <a:solidFill>
                  <a:srgbClr val="0070C0"/>
                </a:solidFill>
                <a:latin typeface="+mn-ea"/>
              </a:rPr>
              <a:t>필요</a:t>
            </a:r>
          </a:p>
        </p:txBody>
      </p:sp>
      <p:graphicFrame>
        <p:nvGraphicFramePr>
          <p:cNvPr id="16" name="차트 15">
            <a:extLst>
              <a:ext uri="{FF2B5EF4-FFF2-40B4-BE49-F238E27FC236}">
                <a16:creationId xmlns:a16="http://schemas.microsoft.com/office/drawing/2014/main" id="{C8A4F865-2531-4158-92FE-2A4C0DC4E6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8709166"/>
              </p:ext>
            </p:extLst>
          </p:nvPr>
        </p:nvGraphicFramePr>
        <p:xfrm>
          <a:off x="11651318" y="4531005"/>
          <a:ext cx="8796338" cy="65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17" name="Picture 7">
            <a:extLst>
              <a:ext uri="{FF2B5EF4-FFF2-40B4-BE49-F238E27FC236}">
                <a16:creationId xmlns:a16="http://schemas.microsoft.com/office/drawing/2014/main" id="{F74D02CC-B680-474B-80FC-682FFCFAE7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" y="2190750"/>
            <a:ext cx="20447000" cy="1012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4100" y="7321550"/>
            <a:ext cx="8204200" cy="4673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84100" y="2578100"/>
            <a:ext cx="8204200" cy="4673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9900" y="391621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FF0000"/>
                </a:solidFill>
                <a:latin typeface="+mn-ea"/>
              </a:rPr>
              <a:t>합창단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n-ea"/>
              </a:rPr>
              <a:t>운영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n-ea"/>
              </a:rPr>
              <a:t>성과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41300" y="2863850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프로그램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개요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31376" y="3876675"/>
            <a:ext cx="7696200" cy="2374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en-US" sz="3000" b="1" i="0" u="none" strike="noStrike" dirty="0">
                <a:solidFill>
                  <a:srgbClr val="0070C0"/>
                </a:solidFill>
                <a:latin typeface="+mn-ea"/>
              </a:rPr>
              <a:t>2025</a:t>
            </a:r>
            <a:r>
              <a:rPr lang="ko-KR" sz="3000" b="1" i="0" u="none" strike="noStrike" dirty="0">
                <a:solidFill>
                  <a:srgbClr val="0070C0"/>
                </a:solidFill>
                <a:latin typeface="+mn-ea"/>
              </a:rPr>
              <a:t>년</a:t>
            </a:r>
            <a:r>
              <a:rPr lang="en-US" sz="30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0070C0"/>
                </a:solidFill>
                <a:latin typeface="+mn-ea"/>
              </a:rPr>
              <a:t>신규</a:t>
            </a:r>
            <a:r>
              <a:rPr lang="en-US" sz="30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0070C0"/>
                </a:solidFill>
                <a:latin typeface="+mn-ea"/>
              </a:rPr>
              <a:t>도입</a:t>
            </a:r>
            <a:r>
              <a:rPr lang="en-US" sz="30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0070C0"/>
                </a:solidFill>
                <a:latin typeface="+mn-ea"/>
              </a:rPr>
              <a:t>프로그램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만족도</a:t>
            </a:r>
            <a:r>
              <a:rPr lang="en-US" sz="30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점수</a:t>
            </a:r>
            <a:r>
              <a:rPr lang="en-US" sz="3000" b="1" i="0" u="none" strike="noStrike" dirty="0">
                <a:solidFill>
                  <a:srgbClr val="FF0000"/>
                </a:solidFill>
                <a:latin typeface="+mn-ea"/>
              </a:rPr>
              <a:t>: 7.1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점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전체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프로그램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중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상위권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지속적</a:t>
            </a:r>
            <a:r>
              <a:rPr lang="en-US" sz="30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운영</a:t>
            </a:r>
            <a:r>
              <a:rPr lang="en-US" sz="30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권장</a:t>
            </a:r>
            <a:r>
              <a:rPr lang="en-US" sz="3000" b="1" i="0" u="none" strike="noStrike" dirty="0">
                <a:solidFill>
                  <a:srgbClr val="FF000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FF0000"/>
                </a:solidFill>
                <a:latin typeface="+mn-ea"/>
              </a:rPr>
              <a:t>사업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01600" y="8039100"/>
            <a:ext cx="7747000" cy="825500"/>
          </a:xfrm>
          <a:prstGeom prst="rect">
            <a:avLst/>
          </a:prstGeom>
        </p:spPr>
        <p:txBody>
          <a:bodyPr lIns="0" tIns="0" rIns="0" bIns="59267" rtlCol="0" anchor="b"/>
          <a:lstStyle/>
          <a:p>
            <a:pPr lvl="0" algn="l">
              <a:lnSpc>
                <a:spcPct val="99600"/>
              </a:lnSpc>
            </a:pP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조직문화</a:t>
            </a:r>
            <a:r>
              <a:rPr lang="en-US" sz="4666" b="1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4666" b="1" i="0" u="none" strike="noStrike" dirty="0">
                <a:solidFill>
                  <a:srgbClr val="000000"/>
                </a:solidFill>
                <a:latin typeface="+mn-ea"/>
              </a:rPr>
              <a:t>기여도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01600" y="9004300"/>
            <a:ext cx="7696200" cy="2374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000" b="1" i="0" u="none" strike="noStrike" dirty="0">
                <a:solidFill>
                  <a:srgbClr val="0070C0"/>
                </a:solidFill>
                <a:latin typeface="+mn-ea"/>
              </a:rPr>
              <a:t>직원</a:t>
            </a:r>
            <a:r>
              <a:rPr lang="en-US" sz="30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0070C0"/>
                </a:solidFill>
                <a:latin typeface="+mn-ea"/>
              </a:rPr>
              <a:t>간</a:t>
            </a:r>
            <a:r>
              <a:rPr lang="en-US" sz="30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0070C0"/>
                </a:solidFill>
                <a:latin typeface="+mn-ea"/>
              </a:rPr>
              <a:t>결속력</a:t>
            </a:r>
            <a:r>
              <a:rPr lang="en-US" sz="30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0070C0"/>
                </a:solidFill>
                <a:latin typeface="+mn-ea"/>
              </a:rPr>
              <a:t>강화</a:t>
            </a:r>
            <a:r>
              <a:rPr lang="en-US" sz="3000" b="1" i="0" u="none" strike="noStrike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sz="3000" b="1" i="0" u="none" strike="noStrike" dirty="0">
                <a:solidFill>
                  <a:srgbClr val="0070C0"/>
                </a:solidFill>
                <a:latin typeface="+mn-ea"/>
              </a:rPr>
              <a:t>효과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부서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간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협업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문화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조성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긍정적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조직문화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형성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-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스트레스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해소</a:t>
            </a:r>
            <a:r>
              <a:rPr lang="en-US" sz="3000" b="0" i="0" u="none" strike="noStrike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sz="3000" b="0" i="0" u="none" strike="noStrike" dirty="0">
                <a:solidFill>
                  <a:srgbClr val="000000"/>
                </a:solidFill>
                <a:latin typeface="+mn-ea"/>
              </a:rPr>
              <a:t>기능</a:t>
            </a:r>
          </a:p>
        </p:txBody>
      </p:sp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C8A4F865-2531-4158-92FE-2A4C0DC4E6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3052313"/>
              </p:ext>
            </p:extLst>
          </p:nvPr>
        </p:nvGraphicFramePr>
        <p:xfrm>
          <a:off x="2963534" y="3863228"/>
          <a:ext cx="8796338" cy="659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사업별 서술형 답변</a:t>
            </a:r>
            <a:endParaRPr lang="ko-KR" sz="3999" b="1" i="0" u="none" strike="noStrike" spc="16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501900" y="3721100"/>
            <a:ext cx="8851900" cy="1181100"/>
          </a:xfrm>
          <a:prstGeom prst="rect">
            <a:avLst/>
          </a:prstGeom>
        </p:spPr>
        <p:txBody>
          <a:bodyPr lIns="0" tIns="84665" rIns="0" bIns="84665" rtlCol="0" anchor="ctr"/>
          <a:lstStyle/>
          <a:p>
            <a:pPr lvl="0" algn="ctr">
              <a:lnSpc>
                <a:spcPct val="99600"/>
              </a:lnSpc>
            </a:pPr>
            <a:endParaRPr lang="ko-KR" sz="6666" b="1" i="0" u="none" strike="noStrike" spc="-67" dirty="0">
              <a:solidFill>
                <a:srgbClr val="000000"/>
              </a:solidFill>
              <a:ea typeface="Nanum NeuRisNeuRisCe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6200" y="3030444"/>
            <a:ext cx="8597900" cy="9055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438400" y="4737100"/>
            <a:ext cx="8775700" cy="5854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-</a:t>
            </a:r>
            <a:r>
              <a:rPr lang="ko-KR" altLang="en-US" sz="3000" i="0" u="none" strike="noStrike" spc="-93" dirty="0" err="1">
                <a:solidFill>
                  <a:srgbClr val="0070C0"/>
                </a:solidFill>
                <a:latin typeface="+mn-ea"/>
              </a:rPr>
              <a:t>사례나눔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실 사례 중심 발표 필요</a:t>
            </a:r>
            <a:endParaRPr lang="en-US" altLang="ko-KR" sz="3000" i="0" u="none" strike="noStrike" spc="-93" dirty="0">
              <a:solidFill>
                <a:srgbClr val="0070C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-</a:t>
            </a:r>
            <a:r>
              <a:rPr lang="ko-KR" altLang="en-US" sz="3000" spc="-93" dirty="0" err="1">
                <a:solidFill>
                  <a:srgbClr val="0070C0"/>
                </a:solidFill>
                <a:latin typeface="+mn-ea"/>
              </a:rPr>
              <a:t>힐링체험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참여자 모집 어려움</a:t>
            </a:r>
            <a:endParaRPr lang="en-US" altLang="ko-KR" sz="3000" spc="-93" dirty="0">
              <a:solidFill>
                <a:srgbClr val="0070C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-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합창 </a:t>
            </a: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예산 확보 필요</a:t>
            </a:r>
            <a:endParaRPr lang="en-US" altLang="ko-KR" sz="3000" i="0" u="none" strike="noStrike" spc="-93" dirty="0">
              <a:solidFill>
                <a:srgbClr val="0070C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-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동아리 활동 </a:t>
            </a: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공개 모집</a:t>
            </a: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+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사전일정 고정 필요</a:t>
            </a:r>
            <a:endParaRPr lang="en-US" altLang="ko-KR" sz="3000" spc="-93" dirty="0">
              <a:solidFill>
                <a:srgbClr val="0070C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-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신입직원 </a:t>
            </a: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OT: 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입사 </a:t>
            </a: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1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개월 내 운영 필요</a:t>
            </a:r>
            <a:endParaRPr lang="en-US" altLang="ko-KR" sz="3000" i="0" u="none" strike="noStrike" spc="-93" dirty="0">
              <a:solidFill>
                <a:srgbClr val="0070C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-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디지털 교육 </a:t>
            </a: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시간 단축 및 난이도 조정 필요</a:t>
            </a:r>
            <a:endParaRPr lang="en-US" altLang="ko-KR" sz="3000" spc="-93" dirty="0">
              <a:solidFill>
                <a:srgbClr val="0070C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-</a:t>
            </a:r>
            <a:r>
              <a:rPr lang="ko-KR" altLang="en-US" sz="3000" i="0" u="none" strike="noStrike" spc="-93" dirty="0" err="1">
                <a:solidFill>
                  <a:srgbClr val="0070C0"/>
                </a:solidFill>
                <a:latin typeface="+mn-ea"/>
              </a:rPr>
              <a:t>직능별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 워크샵 </a:t>
            </a: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무기명 의견 수렴 방식 도입 필요</a:t>
            </a:r>
            <a:endParaRPr lang="en-US" altLang="ko-KR" sz="3000" i="0" u="none" strike="noStrike" spc="-93" dirty="0">
              <a:solidFill>
                <a:srgbClr val="0070C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-</a:t>
            </a:r>
            <a:r>
              <a:rPr lang="ko-KR" altLang="en-US" sz="3000" spc="-93" dirty="0" err="1">
                <a:solidFill>
                  <a:srgbClr val="0070C0"/>
                </a:solidFill>
                <a:latin typeface="+mn-ea"/>
              </a:rPr>
              <a:t>힐링캠프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구조화된 프로그램 설계 필요</a:t>
            </a:r>
            <a:endParaRPr lang="en-US" altLang="ko-KR" sz="3000" spc="-93" dirty="0">
              <a:solidFill>
                <a:srgbClr val="0070C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-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체육대회 </a:t>
            </a:r>
            <a:r>
              <a:rPr lang="en-US" altLang="ko-KR" sz="3000" i="0" u="none" strike="noStrike" spc="-93" dirty="0">
                <a:solidFill>
                  <a:srgbClr val="0070C0"/>
                </a:solidFill>
                <a:latin typeface="+mn-ea"/>
              </a:rPr>
              <a:t>: </a:t>
            </a:r>
            <a:r>
              <a:rPr lang="ko-KR" altLang="en-US" sz="3000" i="0" u="none" strike="noStrike" spc="-93" dirty="0">
                <a:solidFill>
                  <a:srgbClr val="0070C0"/>
                </a:solidFill>
                <a:latin typeface="+mn-ea"/>
              </a:rPr>
              <a:t>공정성 시스템 보완 필요</a:t>
            </a:r>
            <a:endParaRPr lang="en-US" altLang="ko-KR" sz="3000" i="0" u="none" strike="noStrike" spc="-93" dirty="0">
              <a:solidFill>
                <a:srgbClr val="0070C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-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전문가 교육 </a:t>
            </a:r>
            <a:r>
              <a:rPr lang="en-US" altLang="ko-KR" sz="3000" spc="-93" dirty="0">
                <a:solidFill>
                  <a:srgbClr val="0070C0"/>
                </a:solidFill>
                <a:latin typeface="+mn-ea"/>
              </a:rPr>
              <a:t>:</a:t>
            </a:r>
            <a:r>
              <a:rPr lang="ko-KR" altLang="en-US" sz="3000" spc="-93" dirty="0">
                <a:solidFill>
                  <a:srgbClr val="0070C0"/>
                </a:solidFill>
                <a:latin typeface="+mn-ea"/>
              </a:rPr>
              <a:t>강사 전문성 검증 필요</a:t>
            </a:r>
            <a:endParaRPr lang="en-US" altLang="ko-KR" sz="3000" i="0" u="none" strike="noStrike" spc="-93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69900" y="2984500"/>
            <a:ext cx="8597900" cy="9055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31600" y="6616700"/>
            <a:ext cx="1320800" cy="1320800"/>
          </a:xfrm>
          <a:prstGeom prst="rect">
            <a:avLst/>
          </a:prstGeom>
        </p:spPr>
      </p:pic>
      <p:sp>
        <p:nvSpPr>
          <p:cNvPr id="19" name="TextBox 11">
            <a:extLst>
              <a:ext uri="{FF2B5EF4-FFF2-40B4-BE49-F238E27FC236}">
                <a16:creationId xmlns:a16="http://schemas.microsoft.com/office/drawing/2014/main" id="{F9AE3E44-914E-42D4-9324-0DF2115291DC}"/>
              </a:ext>
            </a:extLst>
          </p:cNvPr>
          <p:cNvSpPr txBox="1"/>
          <p:nvPr/>
        </p:nvSpPr>
        <p:spPr>
          <a:xfrm>
            <a:off x="2362200" y="2857500"/>
            <a:ext cx="8851900" cy="1181100"/>
          </a:xfrm>
          <a:prstGeom prst="rect">
            <a:avLst/>
          </a:prstGeom>
        </p:spPr>
        <p:txBody>
          <a:bodyPr lIns="0" tIns="84665" rIns="0" bIns="84665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666" b="1" spc="-67" dirty="0" err="1">
                <a:solidFill>
                  <a:srgbClr val="0070C0"/>
                </a:solidFill>
                <a:latin typeface="+mj-ea"/>
                <a:ea typeface="+mj-ea"/>
              </a:rPr>
              <a:t>개선할점</a:t>
            </a:r>
            <a:endParaRPr lang="ko-KR" sz="6666" b="1" i="0" u="none" strike="noStrike" spc="-67" dirty="0"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6DB9432C-9175-4F40-B40E-3FA38CC33504}"/>
              </a:ext>
            </a:extLst>
          </p:cNvPr>
          <p:cNvSpPr txBox="1"/>
          <p:nvPr/>
        </p:nvSpPr>
        <p:spPr>
          <a:xfrm>
            <a:off x="13258800" y="2933700"/>
            <a:ext cx="8851900" cy="1181100"/>
          </a:xfrm>
          <a:prstGeom prst="rect">
            <a:avLst/>
          </a:prstGeom>
        </p:spPr>
        <p:txBody>
          <a:bodyPr lIns="0" tIns="84665" rIns="0" bIns="84665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6666" b="1" i="0" u="none" strike="noStrike" spc="-67" dirty="0">
                <a:solidFill>
                  <a:srgbClr val="FF0000"/>
                </a:solidFill>
                <a:latin typeface="+mj-ea"/>
                <a:ea typeface="+mj-ea"/>
              </a:rPr>
              <a:t>유익한점</a:t>
            </a:r>
            <a:endParaRPr lang="ko-KR" sz="6666" b="1" i="0" u="none" strike="noStrike" spc="-67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D0DC8575-1406-463D-831E-D2BA9D5C0973}"/>
              </a:ext>
            </a:extLst>
          </p:cNvPr>
          <p:cNvSpPr txBox="1"/>
          <p:nvPr/>
        </p:nvSpPr>
        <p:spPr>
          <a:xfrm>
            <a:off x="13512800" y="4648200"/>
            <a:ext cx="8051800" cy="5867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3000" b="0" i="0" u="none" strike="noStrike" spc="-93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3000" b="0" i="0" u="none" strike="noStrike" spc="-93" dirty="0" err="1">
                <a:solidFill>
                  <a:srgbClr val="FF0000"/>
                </a:solidFill>
                <a:latin typeface="+mn-ea"/>
              </a:rPr>
              <a:t>사례나눔</a:t>
            </a:r>
            <a:r>
              <a:rPr lang="ko-KR" altLang="en-US" sz="3000" b="0" i="0" u="none" strike="noStrike" spc="-93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3000" b="0" i="0" u="none" strike="noStrike" spc="-93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3000" b="0" i="0" u="none" strike="noStrike" spc="-93" dirty="0">
                <a:solidFill>
                  <a:srgbClr val="FF0000"/>
                </a:solidFill>
                <a:latin typeface="+mn-ea"/>
              </a:rPr>
              <a:t>교육현장 도움</a:t>
            </a:r>
            <a:endParaRPr lang="en-US" altLang="ko-KR" sz="3000" b="0" i="0" u="none" strike="noStrike" spc="-93" dirty="0">
              <a:solidFill>
                <a:srgbClr val="FF000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3000" spc="-93" dirty="0" err="1">
                <a:solidFill>
                  <a:srgbClr val="FF0000"/>
                </a:solidFill>
                <a:latin typeface="+mn-ea"/>
              </a:rPr>
              <a:t>힐링체험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정서적 환기</a:t>
            </a: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심리 안정 지원</a:t>
            </a:r>
            <a:endParaRPr lang="en-US" altLang="ko-KR" sz="3000" b="0" i="0" u="none" strike="noStrike" spc="-93" dirty="0">
              <a:solidFill>
                <a:srgbClr val="FF000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b="0" i="0" u="none" strike="noStrike" spc="-93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3000" b="0" i="0" u="none" strike="noStrike" spc="-93" dirty="0">
                <a:solidFill>
                  <a:srgbClr val="FF0000"/>
                </a:solidFill>
                <a:latin typeface="+mn-ea"/>
              </a:rPr>
              <a:t>합창 </a:t>
            </a:r>
            <a:r>
              <a:rPr lang="en-US" altLang="ko-KR" sz="3000" b="0" i="0" u="none" strike="noStrike" spc="-93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3000" b="0" i="0" u="none" strike="noStrike" spc="-93" dirty="0">
                <a:solidFill>
                  <a:srgbClr val="FF0000"/>
                </a:solidFill>
                <a:latin typeface="+mn-ea"/>
              </a:rPr>
              <a:t>성취감 경험</a:t>
            </a:r>
            <a:endParaRPr lang="en-US" altLang="ko-KR" sz="3000" b="0" i="0" u="none" strike="noStrike" spc="-93" dirty="0">
              <a:solidFill>
                <a:srgbClr val="FF000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동아리 활동 </a:t>
            </a: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3000" spc="-93" dirty="0" err="1">
                <a:solidFill>
                  <a:srgbClr val="FF0000"/>
                </a:solidFill>
                <a:latin typeface="+mn-ea"/>
              </a:rPr>
              <a:t>힐링효과</a:t>
            </a:r>
            <a:endParaRPr lang="en-US" altLang="ko-KR" sz="3000" spc="-93" dirty="0">
              <a:solidFill>
                <a:srgbClr val="FF000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b="0" i="0" u="none" strike="noStrike" spc="-93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3000" b="0" i="0" u="none" strike="noStrike" spc="-93" dirty="0">
                <a:solidFill>
                  <a:srgbClr val="FF0000"/>
                </a:solidFill>
                <a:latin typeface="+mn-ea"/>
              </a:rPr>
              <a:t>신입직원 오리엔테이션 </a:t>
            </a:r>
            <a:r>
              <a:rPr lang="en-US" altLang="ko-KR" sz="3000" b="0" i="0" u="none" strike="noStrike" spc="-93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3000" spc="-93" dirty="0" err="1">
                <a:solidFill>
                  <a:srgbClr val="FF0000"/>
                </a:solidFill>
                <a:latin typeface="+mn-ea"/>
              </a:rPr>
              <a:t>조직소속감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 강화</a:t>
            </a:r>
            <a:endParaRPr lang="en-US" altLang="ko-KR" sz="3000" b="0" i="0" u="none" strike="noStrike" spc="-93" dirty="0">
              <a:solidFill>
                <a:srgbClr val="FF000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디지털 교육 </a:t>
            </a: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업무자동화 가능성 확인</a:t>
            </a:r>
            <a:endParaRPr lang="en-US" altLang="ko-KR" sz="3000" spc="-93" dirty="0">
              <a:solidFill>
                <a:srgbClr val="FF000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b="0" i="0" u="none" strike="noStrike" spc="-93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3000" b="0" i="0" u="none" strike="noStrike" spc="-93" dirty="0" err="1">
                <a:solidFill>
                  <a:srgbClr val="FF0000"/>
                </a:solidFill>
                <a:latin typeface="+mn-ea"/>
              </a:rPr>
              <a:t>직능별</a:t>
            </a:r>
            <a:r>
              <a:rPr lang="ko-KR" altLang="en-US" sz="3000" b="0" i="0" u="none" strike="noStrike" spc="-93" dirty="0">
                <a:solidFill>
                  <a:srgbClr val="FF0000"/>
                </a:solidFill>
                <a:latin typeface="+mn-ea"/>
              </a:rPr>
              <a:t> 워크샵 </a:t>
            </a:r>
            <a:r>
              <a:rPr lang="en-US" altLang="ko-KR" sz="3000" b="0" i="0" u="none" strike="noStrike" spc="-93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현장 사례 학습 효과</a:t>
            </a:r>
            <a:endParaRPr lang="en-US" altLang="ko-KR" sz="3000" b="0" i="0" u="none" strike="noStrike" spc="-93" dirty="0">
              <a:solidFill>
                <a:srgbClr val="FF000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3000" spc="-93" dirty="0" err="1">
                <a:solidFill>
                  <a:srgbClr val="FF0000"/>
                </a:solidFill>
                <a:latin typeface="+mn-ea"/>
              </a:rPr>
              <a:t>힐링캠프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팀 워크 및 유대감 강화</a:t>
            </a:r>
            <a:endParaRPr lang="en-US" altLang="ko-KR" sz="3000" spc="-93" dirty="0">
              <a:solidFill>
                <a:srgbClr val="FF000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b="0" i="0" u="none" strike="noStrike" spc="-93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3000" b="0" i="0" u="none" strike="noStrike" spc="-93" dirty="0">
                <a:solidFill>
                  <a:srgbClr val="FF0000"/>
                </a:solidFill>
                <a:latin typeface="+mn-ea"/>
              </a:rPr>
              <a:t>체육대회 </a:t>
            </a:r>
            <a:r>
              <a:rPr lang="en-US" altLang="ko-KR" sz="3000" b="0" i="0" u="none" strike="noStrike" spc="-93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리더 참여로 조직 신뢰도 상승</a:t>
            </a:r>
            <a:endParaRPr lang="en-US" altLang="ko-KR" sz="3000" b="0" i="0" u="none" strike="noStrike" spc="-93" dirty="0">
              <a:solidFill>
                <a:srgbClr val="FF0000"/>
              </a:solidFill>
              <a:latin typeface="+mn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전문가 교육 </a:t>
            </a:r>
            <a:r>
              <a:rPr lang="en-US" altLang="ko-KR" sz="3000" spc="-93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3000" spc="-93" dirty="0">
                <a:solidFill>
                  <a:srgbClr val="FF0000"/>
                </a:solidFill>
                <a:latin typeface="+mn-ea"/>
              </a:rPr>
              <a:t>장애 이해도 향상</a:t>
            </a:r>
            <a:endParaRPr lang="en-US" altLang="ko-KR" sz="3000" b="0" i="0" u="none" strike="noStrike" spc="-93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76213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508000"/>
            <a:ext cx="4038600" cy="1092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2895600" y="1993900"/>
            <a:ext cx="18630900" cy="9969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2260600"/>
            <a:ext cx="17983200" cy="9448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29972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1945600" y="9550400"/>
            <a:ext cx="11684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2400000">
            <a:off x="1943100" y="10223500"/>
            <a:ext cx="18161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711700" y="12179300"/>
            <a:ext cx="11684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5011400" y="546100"/>
            <a:ext cx="1168400" cy="1104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04000" y="685800"/>
            <a:ext cx="990600" cy="1854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148800" y="3162300"/>
            <a:ext cx="1651000" cy="1651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200" y="8686800"/>
            <a:ext cx="1651000" cy="165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4560000">
            <a:off x="14833600" y="11938000"/>
            <a:ext cx="1651000" cy="1651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6540000">
            <a:off x="6286500" y="457200"/>
            <a:ext cx="1447800" cy="1447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962400" y="3111500"/>
            <a:ext cx="16484600" cy="5727700"/>
          </a:xfrm>
          <a:prstGeom prst="rect">
            <a:avLst/>
          </a:prstGeom>
        </p:spPr>
        <p:txBody>
          <a:bodyPr lIns="0" tIns="220133" rIns="0" bIns="22013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3000" b="1" i="0" u="none" strike="noStrike" spc="-173" dirty="0">
                <a:solidFill>
                  <a:srgbClr val="FF0000"/>
                </a:solidFill>
                <a:latin typeface="+mj-ea"/>
                <a:ea typeface="+mj-ea"/>
              </a:rPr>
              <a:t>근무만족도 조사 결과</a:t>
            </a:r>
            <a:endParaRPr lang="ko-KR" sz="13000" b="1" i="0" u="none" strike="noStrike" spc="-173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178300" y="8928100"/>
            <a:ext cx="16027400" cy="1041400"/>
          </a:xfrm>
          <a:prstGeom prst="rect">
            <a:avLst/>
          </a:prstGeom>
        </p:spPr>
        <p:txBody>
          <a:bodyPr lIns="0" tIns="74405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5858" b="0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성장확장위원회</a:t>
            </a:r>
            <a:endParaRPr lang="en-US" sz="5858" b="0" i="0" u="none" strike="noStrike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6085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" y="2190750"/>
            <a:ext cx="20447000" cy="10121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999" b="1" spc="160" dirty="0">
                <a:solidFill>
                  <a:srgbClr val="000000"/>
                </a:solidFill>
                <a:latin typeface="+mj-ea"/>
                <a:ea typeface="+mj-ea"/>
              </a:rPr>
              <a:t>근무만족도 조사</a:t>
            </a:r>
            <a:endParaRPr lang="ko-KR" sz="3999" b="1" i="0" u="none" strike="noStrike" spc="16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CAD87644-2711-4397-8730-81021075C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3001764"/>
              </p:ext>
            </p:extLst>
          </p:nvPr>
        </p:nvGraphicFramePr>
        <p:xfrm>
          <a:off x="4648200" y="2406650"/>
          <a:ext cx="15240000" cy="9785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2763003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937500" y="7226300"/>
            <a:ext cx="8509000" cy="127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근무만족도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총괄</a:t>
            </a:r>
            <a:r>
              <a:rPr lang="en-US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분석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01900" y="3721100"/>
            <a:ext cx="8851900" cy="1181100"/>
          </a:xfrm>
          <a:prstGeom prst="rect">
            <a:avLst/>
          </a:prstGeom>
        </p:spPr>
        <p:txBody>
          <a:bodyPr lIns="0" tIns="84665" rIns="0" bIns="84665" rtlCol="0" anchor="ctr"/>
          <a:lstStyle/>
          <a:p>
            <a:pPr lvl="0" algn="ctr">
              <a:lnSpc>
                <a:spcPct val="99600"/>
              </a:lnSpc>
            </a:pPr>
            <a:r>
              <a:rPr lang="en-US" sz="6666" b="1" i="0" u="none" strike="noStrike" spc="-67" dirty="0">
                <a:solidFill>
                  <a:srgbClr val="000000"/>
                </a:solidFill>
                <a:latin typeface="+mj-ea"/>
                <a:ea typeface="+mj-ea"/>
              </a:rPr>
              <a:t>2024</a:t>
            </a:r>
            <a:r>
              <a:rPr lang="ko-KR" sz="6666" b="1" i="0" u="none" strike="noStrike" spc="-67" dirty="0">
                <a:solidFill>
                  <a:srgbClr val="000000"/>
                </a:solidFill>
                <a:latin typeface="+mj-ea"/>
                <a:ea typeface="+mj-ea"/>
              </a:rPr>
              <a:t>년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5765800"/>
            <a:ext cx="8597900" cy="55499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895600" y="6146800"/>
            <a:ext cx="8051800" cy="33147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4666" b="1" i="0" u="none" strike="noStrike" spc="-93" dirty="0">
                <a:solidFill>
                  <a:srgbClr val="FF0000"/>
                </a:solidFill>
                <a:latin typeface="+mj-ea"/>
                <a:ea typeface="+mj-ea"/>
              </a:rPr>
              <a:t>평균</a:t>
            </a:r>
            <a:r>
              <a:rPr lang="en-US" sz="4666" b="1" i="0" u="none" strike="noStrike" spc="-93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spc="-93" dirty="0">
                <a:solidFill>
                  <a:srgbClr val="FF0000"/>
                </a:solidFill>
                <a:latin typeface="+mj-ea"/>
                <a:ea typeface="+mj-ea"/>
              </a:rPr>
              <a:t>점수</a:t>
            </a:r>
            <a:r>
              <a:rPr lang="en-US" sz="4666" b="1" i="0" u="none" strike="noStrike" spc="-93" dirty="0">
                <a:solidFill>
                  <a:srgbClr val="FF0000"/>
                </a:solidFill>
                <a:latin typeface="+mj-ea"/>
                <a:ea typeface="+mj-ea"/>
              </a:rPr>
              <a:t>: 6.6</a:t>
            </a:r>
            <a:r>
              <a:rPr lang="ko-KR" sz="4666" b="1" i="0" u="none" strike="noStrike" spc="-93" dirty="0">
                <a:solidFill>
                  <a:srgbClr val="FF0000"/>
                </a:solidFill>
                <a:latin typeface="+mj-ea"/>
                <a:ea typeface="+mj-ea"/>
              </a:rPr>
              <a:t>점</a:t>
            </a:r>
          </a:p>
          <a:p>
            <a:pPr lvl="0" algn="ctr">
              <a:lnSpc>
                <a:spcPct val="116199"/>
              </a:lnSpc>
            </a:pP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프로그램별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편차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큼</a:t>
            </a:r>
          </a:p>
          <a:p>
            <a:pPr lvl="0" algn="ctr">
              <a:lnSpc>
                <a:spcPct val="116199"/>
              </a:lnSpc>
            </a:pP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신규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프로그램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도입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전</a:t>
            </a:r>
          </a:p>
          <a:p>
            <a:pPr lvl="0" algn="ctr">
              <a:lnSpc>
                <a:spcPct val="116199"/>
              </a:lnSpc>
            </a:pP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개선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필요성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제기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42900" y="3721100"/>
            <a:ext cx="8851900" cy="1181100"/>
          </a:xfrm>
          <a:prstGeom prst="rect">
            <a:avLst/>
          </a:prstGeom>
        </p:spPr>
        <p:txBody>
          <a:bodyPr lIns="0" tIns="84665" rIns="0" bIns="84665" rtlCol="0" anchor="ctr"/>
          <a:lstStyle/>
          <a:p>
            <a:pPr lvl="0" algn="ctr">
              <a:lnSpc>
                <a:spcPct val="99600"/>
              </a:lnSpc>
            </a:pPr>
            <a:r>
              <a:rPr lang="en-US" sz="6666" b="1" i="0" u="none" strike="noStrike" spc="-67" dirty="0">
                <a:solidFill>
                  <a:srgbClr val="000000"/>
                </a:solidFill>
                <a:latin typeface="+mj-ea"/>
                <a:ea typeface="+mj-ea"/>
              </a:rPr>
              <a:t>2025</a:t>
            </a:r>
            <a:r>
              <a:rPr lang="ko-KR" sz="6666" b="1" i="0" u="none" strike="noStrike" spc="-67" dirty="0">
                <a:solidFill>
                  <a:srgbClr val="000000"/>
                </a:solidFill>
                <a:latin typeface="+mj-ea"/>
                <a:ea typeface="+mj-ea"/>
              </a:rPr>
              <a:t>년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69900" y="5765800"/>
            <a:ext cx="8597900" cy="554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31600" y="6616700"/>
            <a:ext cx="1320800" cy="1320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04600" y="6502400"/>
            <a:ext cx="1574800" cy="15748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3436600" y="6146800"/>
            <a:ext cx="8051800" cy="522605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4666" b="1" i="0" u="none" strike="noStrike" spc="-93" dirty="0">
                <a:solidFill>
                  <a:srgbClr val="FF0000"/>
                </a:solidFill>
                <a:latin typeface="+mj-ea"/>
                <a:ea typeface="+mj-ea"/>
              </a:rPr>
              <a:t>평균</a:t>
            </a:r>
            <a:r>
              <a:rPr lang="en-US" sz="4666" b="1" i="0" u="none" strike="noStrike" spc="-93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spc="-93" dirty="0">
                <a:solidFill>
                  <a:srgbClr val="FF0000"/>
                </a:solidFill>
                <a:latin typeface="+mj-ea"/>
                <a:ea typeface="+mj-ea"/>
              </a:rPr>
              <a:t>점수</a:t>
            </a:r>
            <a:r>
              <a:rPr lang="en-US" sz="4666" b="1" i="0" u="none" strike="noStrike" spc="-93" dirty="0">
                <a:solidFill>
                  <a:srgbClr val="FF0000"/>
                </a:solidFill>
                <a:latin typeface="+mj-ea"/>
                <a:ea typeface="+mj-ea"/>
              </a:rPr>
              <a:t>: 6.5</a:t>
            </a:r>
            <a:r>
              <a:rPr lang="ko-KR" sz="4666" b="1" i="0" u="none" strike="noStrike" spc="-93" dirty="0">
                <a:solidFill>
                  <a:srgbClr val="FF0000"/>
                </a:solidFill>
                <a:latin typeface="+mj-ea"/>
                <a:ea typeface="+mj-ea"/>
              </a:rPr>
              <a:t>점</a:t>
            </a:r>
          </a:p>
          <a:p>
            <a:pPr lvl="0" algn="ctr">
              <a:lnSpc>
                <a:spcPct val="116199"/>
              </a:lnSpc>
            </a:pP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전년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대비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sz="4666" b="0" i="0" u="none" strike="noStrike" spc="-93" dirty="0">
                <a:solidFill>
                  <a:srgbClr val="0070C0"/>
                </a:solidFill>
                <a:latin typeface="+mj-ea"/>
                <a:ea typeface="+mj-ea"/>
              </a:rPr>
              <a:t>0.1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점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하락</a:t>
            </a:r>
          </a:p>
          <a:p>
            <a:pPr lvl="0" algn="ctr">
              <a:lnSpc>
                <a:spcPct val="116199"/>
              </a:lnSpc>
            </a:pP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-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큰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변화</a:t>
            </a:r>
            <a:r>
              <a:rPr lang="en-US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4666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없음</a:t>
            </a:r>
          </a:p>
          <a:p>
            <a:pPr marL="685800" lvl="0" indent="-685800" algn="ctr">
              <a:lnSpc>
                <a:spcPct val="116199"/>
              </a:lnSpc>
              <a:buFontTx/>
              <a:buChar char="-"/>
            </a:pPr>
            <a:r>
              <a:rPr lang="ko-KR" sz="4666" b="1" i="0" u="none" strike="noStrike" spc="-93" dirty="0">
                <a:solidFill>
                  <a:srgbClr val="0070C0"/>
                </a:solidFill>
                <a:latin typeface="+mj-ea"/>
                <a:ea typeface="+mj-ea"/>
              </a:rPr>
              <a:t>구조적</a:t>
            </a:r>
            <a:r>
              <a:rPr lang="en-US" sz="4666" b="1" i="0" u="none" strike="noStrike" spc="-93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spc="-93" dirty="0">
                <a:solidFill>
                  <a:srgbClr val="0070C0"/>
                </a:solidFill>
                <a:latin typeface="+mj-ea"/>
                <a:ea typeface="+mj-ea"/>
              </a:rPr>
              <a:t>피로</a:t>
            </a:r>
            <a:r>
              <a:rPr lang="en-US" sz="4666" b="1" i="0" u="none" strike="noStrike" spc="-93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sz="4666" b="1" i="0" u="none" strike="noStrike" spc="-93" dirty="0">
                <a:solidFill>
                  <a:srgbClr val="0070C0"/>
                </a:solidFill>
                <a:latin typeface="+mj-ea"/>
                <a:ea typeface="+mj-ea"/>
              </a:rPr>
              <a:t>누적</a:t>
            </a:r>
            <a:endParaRPr lang="en-US" altLang="ko-KR" sz="4666" b="1" i="0" u="none" strike="noStrike" spc="-93" dirty="0">
              <a:solidFill>
                <a:srgbClr val="0070C0"/>
              </a:solidFill>
              <a:latin typeface="+mj-ea"/>
              <a:ea typeface="+mj-ea"/>
            </a:endParaRPr>
          </a:p>
          <a:p>
            <a:pPr marL="685800" lvl="0" indent="-685800" algn="ctr">
              <a:lnSpc>
                <a:spcPct val="116199"/>
              </a:lnSpc>
              <a:buFontTx/>
              <a:buChar char="-"/>
            </a:pPr>
            <a:r>
              <a:rPr lang="ko-KR" altLang="en-US" sz="4666" b="1" spc="-93" dirty="0">
                <a:solidFill>
                  <a:srgbClr val="0070C0"/>
                </a:solidFill>
                <a:latin typeface="+mj-ea"/>
                <a:ea typeface="+mj-ea"/>
              </a:rPr>
              <a:t>전체점수도 중요하지만 등락 항목별 분석필요</a:t>
            </a:r>
            <a:endParaRPr lang="ko-KR" sz="4666" b="1" i="0" u="none" strike="noStrike" spc="-93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" y="2190750"/>
            <a:ext cx="20447000" cy="10121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999" b="1" spc="160" dirty="0">
                <a:solidFill>
                  <a:srgbClr val="FF0000"/>
                </a:solidFill>
                <a:latin typeface="+mj-ea"/>
                <a:ea typeface="+mj-ea"/>
              </a:rPr>
              <a:t>근무만족도 조사</a:t>
            </a:r>
            <a:r>
              <a:rPr lang="en-US" altLang="ko-KR" sz="3999" b="1" spc="16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3999" b="1" spc="160" dirty="0">
                <a:solidFill>
                  <a:srgbClr val="FF0000"/>
                </a:solidFill>
                <a:latin typeface="+mj-ea"/>
                <a:ea typeface="+mj-ea"/>
              </a:rPr>
              <a:t>복리후생 제도</a:t>
            </a:r>
            <a:r>
              <a:rPr lang="en-US" altLang="ko-KR" sz="3999" b="1" spc="160" dirty="0">
                <a:solidFill>
                  <a:srgbClr val="FF0000"/>
                </a:solidFill>
                <a:latin typeface="+mj-ea"/>
                <a:ea typeface="+mj-ea"/>
              </a:rPr>
              <a:t>)-</a:t>
            </a:r>
            <a:r>
              <a:rPr lang="ko-KR" altLang="en-US" sz="3999" b="1" spc="160" dirty="0">
                <a:solidFill>
                  <a:srgbClr val="FF0000"/>
                </a:solidFill>
                <a:latin typeface="+mj-ea"/>
                <a:ea typeface="+mj-ea"/>
              </a:rPr>
              <a:t>체크리스트</a:t>
            </a:r>
            <a:endParaRPr lang="ko-KR" sz="3999" b="1" i="0" u="none" strike="noStrike" spc="16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9501C75-3DC5-4664-AD68-BDEFB1E1FB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39" y="2490039"/>
            <a:ext cx="11044513" cy="903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889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900" y="2222500"/>
            <a:ext cx="20447000" cy="1012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391622"/>
            <a:ext cx="20955000" cy="1092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근무만족도</a:t>
            </a:r>
            <a:r>
              <a:rPr lang="en-US" altLang="ko-KR" sz="3999" b="1" i="0" u="none" strike="noStrike" spc="160" dirty="0">
                <a:solidFill>
                  <a:srgbClr val="FF0000"/>
                </a:solidFill>
                <a:latin typeface="+mj-ea"/>
                <a:ea typeface="+mj-ea"/>
              </a:rPr>
              <a:t>(</a:t>
            </a:r>
            <a:r>
              <a:rPr lang="ko-KR" altLang="en-US" sz="3999" b="1" spc="160" dirty="0">
                <a:solidFill>
                  <a:srgbClr val="FF0000"/>
                </a:solidFill>
                <a:latin typeface="+mj-ea"/>
                <a:ea typeface="+mj-ea"/>
              </a:rPr>
              <a:t>직원의 의견</a:t>
            </a:r>
            <a:r>
              <a:rPr lang="en-US" altLang="ko-KR" sz="3999" b="1" spc="160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  <a:endParaRPr lang="ko-KR" sz="3999" b="1" i="0" u="none" strike="noStrike" spc="16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9017" y="2533650"/>
            <a:ext cx="14962707" cy="965835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4572000" y="3733800"/>
            <a:ext cx="14962707" cy="7185025"/>
          </a:xfrm>
          <a:prstGeom prst="rect">
            <a:avLst/>
          </a:prstGeom>
        </p:spPr>
        <p:txBody>
          <a:bodyPr rtlCol="0" anchor="t"/>
          <a:lstStyle/>
          <a:p>
            <a:pPr marL="685800" lvl="0" indent="-685800" algn="ctr">
              <a:lnSpc>
                <a:spcPct val="116199"/>
              </a:lnSpc>
              <a:buFontTx/>
              <a:buChar char="-"/>
            </a:pPr>
            <a:r>
              <a:rPr lang="ko-KR" altLang="en-US" sz="4000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각기관별 휴가</a:t>
            </a:r>
            <a:r>
              <a:rPr lang="en-US" altLang="ko-KR" sz="4000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4000" b="0" i="0" u="none" strike="noStrike" spc="-93" dirty="0" err="1">
                <a:solidFill>
                  <a:srgbClr val="000000"/>
                </a:solidFill>
                <a:latin typeface="+mj-ea"/>
                <a:ea typeface="+mj-ea"/>
              </a:rPr>
              <a:t>대휴</a:t>
            </a:r>
            <a:r>
              <a:rPr lang="ko-KR" altLang="en-US" sz="4000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출장비 </a:t>
            </a:r>
            <a:r>
              <a:rPr lang="ko-KR" altLang="en-US" sz="4000" b="1" i="0" u="none" strike="noStrike" spc="-93" dirty="0">
                <a:solidFill>
                  <a:srgbClr val="0070C0"/>
                </a:solidFill>
                <a:latin typeface="+mj-ea"/>
                <a:ea typeface="+mj-ea"/>
              </a:rPr>
              <a:t>통일화</a:t>
            </a:r>
            <a:endParaRPr lang="en-US" altLang="ko-KR" sz="4000" b="1" i="0" u="none" strike="noStrike" spc="-93" dirty="0">
              <a:solidFill>
                <a:srgbClr val="0070C0"/>
              </a:solidFill>
              <a:latin typeface="+mj-ea"/>
              <a:ea typeface="+mj-ea"/>
            </a:endParaRPr>
          </a:p>
          <a:p>
            <a:pPr marL="685800" lvl="0" indent="-685800" algn="ctr">
              <a:lnSpc>
                <a:spcPct val="116199"/>
              </a:lnSpc>
              <a:buFontTx/>
              <a:buChar char="-"/>
            </a:pPr>
            <a:r>
              <a:rPr lang="ko-KR" altLang="en-US" sz="4000" spc="-93" dirty="0">
                <a:solidFill>
                  <a:srgbClr val="000000"/>
                </a:solidFill>
                <a:latin typeface="+mj-ea"/>
                <a:ea typeface="+mj-ea"/>
              </a:rPr>
              <a:t>고래도 춤추게 한다는 칭찬</a:t>
            </a:r>
            <a:r>
              <a:rPr lang="en-US" altLang="ko-KR" sz="4000" spc="-93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4000" b="1" spc="-93" dirty="0">
                <a:solidFill>
                  <a:srgbClr val="0070C0"/>
                </a:solidFill>
                <a:latin typeface="+mj-ea"/>
                <a:ea typeface="+mj-ea"/>
              </a:rPr>
              <a:t>다른 사람의 능력을 인정하는 공감</a:t>
            </a:r>
            <a:endParaRPr lang="en-US" altLang="ko-KR" sz="4000" b="1" spc="-93" dirty="0">
              <a:solidFill>
                <a:srgbClr val="0070C0"/>
              </a:solidFill>
              <a:latin typeface="+mj-ea"/>
              <a:ea typeface="+mj-ea"/>
            </a:endParaRPr>
          </a:p>
          <a:p>
            <a:pPr marL="685800" lvl="0" indent="-685800" algn="ctr">
              <a:lnSpc>
                <a:spcPct val="116199"/>
              </a:lnSpc>
              <a:buFontTx/>
              <a:buChar char="-"/>
            </a:pPr>
            <a:r>
              <a:rPr lang="ko-KR" altLang="en-US" sz="4000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직원 휴게공간 개선</a:t>
            </a:r>
            <a:endParaRPr lang="en-US" altLang="ko-KR" sz="4000" b="0" i="0" u="none" strike="noStrike" spc="-93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685800" lvl="0" indent="-685800" algn="ctr">
              <a:lnSpc>
                <a:spcPct val="116199"/>
              </a:lnSpc>
              <a:buFontTx/>
              <a:buChar char="-"/>
            </a:pPr>
            <a:r>
              <a:rPr lang="ko-KR" altLang="en-US" sz="4000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행사 </a:t>
            </a:r>
            <a:r>
              <a:rPr lang="ko-KR" altLang="en-US" sz="4000" b="0" i="0" u="none" strike="noStrike" spc="-93" dirty="0" err="1">
                <a:solidFill>
                  <a:srgbClr val="000000"/>
                </a:solidFill>
                <a:latin typeface="+mj-ea"/>
                <a:ea typeface="+mj-ea"/>
              </a:rPr>
              <a:t>지원시</a:t>
            </a:r>
            <a:r>
              <a:rPr lang="ko-KR" altLang="en-US" sz="4000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 근무 외 동원에 대한 명확한 보상 체계 필요함</a:t>
            </a:r>
            <a:endParaRPr lang="en-US" altLang="ko-KR" sz="4000" b="0" i="0" u="none" strike="noStrike" spc="-93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685800" lvl="0" indent="-685800" algn="ctr">
              <a:lnSpc>
                <a:spcPct val="116199"/>
              </a:lnSpc>
              <a:buFontTx/>
              <a:buChar char="-"/>
            </a:pPr>
            <a:r>
              <a:rPr lang="ko-KR" altLang="en-US" sz="4000" spc="-93" dirty="0">
                <a:solidFill>
                  <a:srgbClr val="000000"/>
                </a:solidFill>
                <a:latin typeface="+mj-ea"/>
                <a:ea typeface="+mj-ea"/>
              </a:rPr>
              <a:t>사회복지시설도 하나의 </a:t>
            </a:r>
            <a:r>
              <a:rPr lang="ko-KR" altLang="en-US" sz="4000" b="1" spc="-93" dirty="0">
                <a:solidFill>
                  <a:srgbClr val="0070C0"/>
                </a:solidFill>
                <a:latin typeface="+mj-ea"/>
                <a:ea typeface="+mj-ea"/>
              </a:rPr>
              <a:t>전문 조직으로서 인식전환 </a:t>
            </a:r>
            <a:r>
              <a:rPr lang="ko-KR" altLang="en-US" sz="4000" spc="-93" dirty="0">
                <a:solidFill>
                  <a:srgbClr val="000000"/>
                </a:solidFill>
                <a:latin typeface="+mj-ea"/>
                <a:ea typeface="+mj-ea"/>
              </a:rPr>
              <a:t>필요</a:t>
            </a:r>
            <a:endParaRPr lang="en-US" altLang="ko-KR" sz="4000" spc="-93" dirty="0">
              <a:solidFill>
                <a:srgbClr val="000000"/>
              </a:solidFill>
              <a:latin typeface="+mj-ea"/>
              <a:ea typeface="+mj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4000" b="1" spc="-93" dirty="0">
                <a:solidFill>
                  <a:srgbClr val="0070C0"/>
                </a:solidFill>
                <a:latin typeface="+mj-ea"/>
                <a:ea typeface="+mj-ea"/>
              </a:rPr>
              <a:t>(</a:t>
            </a:r>
            <a:r>
              <a:rPr lang="ko-KR" altLang="en-US" sz="4000" b="1" spc="-93" dirty="0">
                <a:solidFill>
                  <a:srgbClr val="0070C0"/>
                </a:solidFill>
                <a:latin typeface="+mj-ea"/>
                <a:ea typeface="+mj-ea"/>
              </a:rPr>
              <a:t>봉사</a:t>
            </a:r>
            <a:r>
              <a:rPr lang="en-US" altLang="ko-KR" sz="4000" b="1" spc="-93" dirty="0">
                <a:solidFill>
                  <a:srgbClr val="0070C0"/>
                </a:solidFill>
                <a:latin typeface="+mj-ea"/>
                <a:ea typeface="+mj-ea"/>
              </a:rPr>
              <a:t>, </a:t>
            </a:r>
            <a:r>
              <a:rPr lang="ko-KR" altLang="en-US" sz="4000" b="1" spc="-93" dirty="0">
                <a:solidFill>
                  <a:srgbClr val="0070C0"/>
                </a:solidFill>
                <a:latin typeface="+mj-ea"/>
                <a:ea typeface="+mj-ea"/>
              </a:rPr>
              <a:t>희생 강요 방식 개선 필요</a:t>
            </a:r>
            <a:r>
              <a:rPr lang="en-US" altLang="ko-KR" sz="4000" b="1" spc="-93" dirty="0">
                <a:solidFill>
                  <a:srgbClr val="0070C0"/>
                </a:solidFill>
                <a:latin typeface="+mj-ea"/>
                <a:ea typeface="+mj-ea"/>
              </a:rPr>
              <a:t>)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4000" spc="-93" dirty="0">
                <a:solidFill>
                  <a:srgbClr val="000000"/>
                </a:solidFill>
                <a:latin typeface="+mj-ea"/>
                <a:ea typeface="+mj-ea"/>
              </a:rPr>
              <a:t>-</a:t>
            </a:r>
            <a:r>
              <a:rPr lang="ko-KR" altLang="en-US" sz="4000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강제 동원이 아닌 </a:t>
            </a:r>
            <a:r>
              <a:rPr lang="ko-KR" altLang="en-US" sz="4000" b="1" i="0" u="none" strike="noStrike" spc="-93" dirty="0">
                <a:solidFill>
                  <a:srgbClr val="0070C0"/>
                </a:solidFill>
                <a:latin typeface="+mj-ea"/>
                <a:ea typeface="+mj-ea"/>
              </a:rPr>
              <a:t>자율 참여 기반 프로그램 </a:t>
            </a:r>
            <a:r>
              <a:rPr lang="ko-KR" altLang="en-US" sz="4000" b="0" i="0" u="none" strike="noStrike" spc="-93" dirty="0">
                <a:solidFill>
                  <a:srgbClr val="000000"/>
                </a:solidFill>
                <a:latin typeface="+mj-ea"/>
                <a:ea typeface="+mj-ea"/>
              </a:rPr>
              <a:t>전환 필요함</a:t>
            </a:r>
            <a:endParaRPr lang="en-US" altLang="ko-KR" sz="4000" b="0" i="0" u="none" strike="noStrike" spc="-93" dirty="0">
              <a:solidFill>
                <a:srgbClr val="000000"/>
              </a:solidFill>
              <a:latin typeface="+mj-ea"/>
              <a:ea typeface="+mj-ea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4000" spc="-93" dirty="0">
                <a:solidFill>
                  <a:srgbClr val="000000"/>
                </a:solidFill>
                <a:latin typeface="+mj-ea"/>
                <a:ea typeface="+mj-ea"/>
              </a:rPr>
              <a:t>-</a:t>
            </a:r>
            <a:r>
              <a:rPr lang="ko-KR" altLang="en-US" sz="4000" spc="-93" dirty="0">
                <a:solidFill>
                  <a:srgbClr val="000000"/>
                </a:solidFill>
                <a:latin typeface="+mj-ea"/>
                <a:ea typeface="+mj-ea"/>
              </a:rPr>
              <a:t>관리자의 전문성</a:t>
            </a:r>
            <a:r>
              <a:rPr lang="en-US" altLang="ko-KR" sz="4000" spc="-93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altLang="en-US" sz="4000" spc="-93" dirty="0">
                <a:solidFill>
                  <a:srgbClr val="000000"/>
                </a:solidFill>
                <a:latin typeface="+mj-ea"/>
                <a:ea typeface="+mj-ea"/>
              </a:rPr>
              <a:t>성 인지 감수성을 강화하고</a:t>
            </a:r>
            <a:r>
              <a:rPr lang="en-US" altLang="ko-KR" sz="4000" spc="-93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4000" b="1" spc="-93" dirty="0">
                <a:solidFill>
                  <a:srgbClr val="0070C0"/>
                </a:solidFill>
                <a:latin typeface="+mj-ea"/>
                <a:ea typeface="+mj-ea"/>
              </a:rPr>
              <a:t>권위적 문화</a:t>
            </a:r>
            <a:r>
              <a:rPr lang="ko-KR" altLang="en-US" sz="4000" spc="-93" dirty="0">
                <a:solidFill>
                  <a:srgbClr val="000000"/>
                </a:solidFill>
                <a:latin typeface="+mj-ea"/>
                <a:ea typeface="+mj-ea"/>
              </a:rPr>
              <a:t>에서 벗어나 구성원의 의견을 경청했으면 좋겠음</a:t>
            </a:r>
            <a:endParaRPr lang="ko-KR" sz="4000" b="0" i="0" u="none" strike="noStrike" spc="-93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40156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739900" y="1993900"/>
            <a:ext cx="20955000" cy="1057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69800" y="12026900"/>
            <a:ext cx="1168400" cy="1104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60000">
            <a:off x="22390100" y="6578600"/>
            <a:ext cx="1409700" cy="140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5000" y="100457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2800" y="2209800"/>
            <a:ext cx="20447000" cy="1012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9900" y="508000"/>
            <a:ext cx="20955000" cy="1092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3314700" y="711200"/>
            <a:ext cx="19215100" cy="711200"/>
          </a:xfrm>
          <a:prstGeom prst="rect">
            <a:avLst/>
          </a:prstGeom>
        </p:spPr>
        <p:txBody>
          <a:bodyPr lIns="0" tIns="50799" rIns="0" bIns="50799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999" b="1" i="0" u="none" strike="noStrike" spc="160" dirty="0">
                <a:solidFill>
                  <a:srgbClr val="000000"/>
                </a:solidFill>
                <a:latin typeface="+mj-ea"/>
                <a:ea typeface="+mj-ea"/>
              </a:rPr>
              <a:t>결론 및 향후 방향</a:t>
            </a:r>
            <a:endParaRPr lang="ko-KR" sz="3999" b="1" i="0" u="none" strike="noStrike" spc="16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089978" y="3794125"/>
            <a:ext cx="12306300" cy="869315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endParaRPr lang="ko-KR" sz="4666" b="0" i="0" u="none" strike="noStrike" spc="-93" dirty="0">
              <a:solidFill>
                <a:srgbClr val="000000"/>
              </a:solidFill>
              <a:ea typeface="Nanum NeuRisNeuRisCe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197FB85C-DAF4-4DFF-999E-CBE01F697E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9700" y="5359400"/>
            <a:ext cx="19011900" cy="5918200"/>
          </a:xfrm>
          <a:prstGeom prst="rect">
            <a:avLst/>
          </a:prstGeom>
          <a:effectLst>
            <a:outerShdw dist="136512" dir="2700000">
              <a:srgbClr val="182245">
                <a:alpha val="14000"/>
              </a:srgbClr>
            </a:outerShdw>
          </a:effectLst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7F7AFA89-4551-4A74-8079-98CD7A5CC29E}"/>
              </a:ext>
            </a:extLst>
          </p:cNvPr>
          <p:cNvSpPr txBox="1"/>
          <p:nvPr/>
        </p:nvSpPr>
        <p:spPr>
          <a:xfrm>
            <a:off x="3391228" y="4109892"/>
            <a:ext cx="17703800" cy="890733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2025</a:t>
            </a:r>
            <a:r>
              <a:rPr lang="ko-KR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년</a:t>
            </a: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성장확장위원회</a:t>
            </a: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사업</a:t>
            </a: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종합</a:t>
            </a: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평가</a:t>
            </a: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결과</a:t>
            </a: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다음과</a:t>
            </a: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같은</a:t>
            </a: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결론을</a:t>
            </a: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도출하였습니다</a:t>
            </a:r>
            <a:r>
              <a:rPr lang="en-US" sz="38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368A78-54D2-4D37-AE4C-97B7E53CD0F3}"/>
              </a:ext>
            </a:extLst>
          </p:cNvPr>
          <p:cNvSpPr txBox="1"/>
          <p:nvPr/>
        </p:nvSpPr>
        <p:spPr>
          <a:xfrm>
            <a:off x="4648200" y="5867400"/>
            <a:ext cx="6172200" cy="4852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2800"/>
              </a:lnSpc>
            </a:pPr>
            <a:r>
              <a:rPr lang="ko-KR" altLang="ko-KR" sz="3000" b="1" dirty="0">
                <a:solidFill>
                  <a:srgbClr val="FF0000"/>
                </a:solidFill>
                <a:latin typeface="+mj-ea"/>
                <a:ea typeface="+mj-ea"/>
              </a:rPr>
              <a:t>지속</a:t>
            </a:r>
            <a:r>
              <a:rPr lang="en-US" altLang="ko-KR" sz="3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ko-KR" sz="3000" b="1" dirty="0">
                <a:solidFill>
                  <a:srgbClr val="FF0000"/>
                </a:solidFill>
                <a:latin typeface="+mj-ea"/>
                <a:ea typeface="+mj-ea"/>
              </a:rPr>
              <a:t>사업</a:t>
            </a:r>
            <a:r>
              <a:rPr lang="en-US" altLang="ko-KR" sz="3000" b="1" dirty="0">
                <a:solidFill>
                  <a:srgbClr val="FF0000"/>
                </a:solidFill>
                <a:latin typeface="+mj-ea"/>
                <a:ea typeface="+mj-ea"/>
              </a:rPr>
              <a:t> (</a:t>
            </a:r>
            <a:r>
              <a:rPr lang="ko-KR" altLang="ko-KR" sz="3000" b="1" dirty="0">
                <a:solidFill>
                  <a:srgbClr val="FF0000"/>
                </a:solidFill>
                <a:latin typeface="+mj-ea"/>
                <a:ea typeface="+mj-ea"/>
              </a:rPr>
              <a:t>우수</a:t>
            </a:r>
            <a:r>
              <a:rPr lang="en-US" altLang="ko-KR" sz="3000" b="1" dirty="0">
                <a:solidFill>
                  <a:srgbClr val="FF0000"/>
                </a:solidFill>
                <a:latin typeface="+mj-ea"/>
                <a:ea typeface="+mj-ea"/>
              </a:rPr>
              <a:t> - </a:t>
            </a:r>
            <a:r>
              <a:rPr lang="ko-KR" altLang="ko-KR" sz="3000" b="1" dirty="0">
                <a:solidFill>
                  <a:srgbClr val="FF0000"/>
                </a:solidFill>
                <a:latin typeface="+mj-ea"/>
                <a:ea typeface="+mj-ea"/>
              </a:rPr>
              <a:t>사업보완</a:t>
            </a:r>
            <a:r>
              <a:rPr lang="en-US" altLang="ko-KR" sz="3000" b="1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 ·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신입직원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오리엔테이션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: 8.2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점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 · </a:t>
            </a:r>
            <a:r>
              <a:rPr lang="ko-KR" altLang="ko-KR" sz="3000" b="1" dirty="0" err="1">
                <a:solidFill>
                  <a:srgbClr val="182245"/>
                </a:solidFill>
                <a:latin typeface="+mj-ea"/>
                <a:ea typeface="+mj-ea"/>
              </a:rPr>
              <a:t>힐링워크샵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: 7.4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점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 · </a:t>
            </a:r>
            <a:r>
              <a:rPr lang="ko-KR" altLang="ko-KR" sz="3000" b="1" dirty="0" err="1">
                <a:solidFill>
                  <a:srgbClr val="182245"/>
                </a:solidFill>
                <a:latin typeface="+mj-ea"/>
                <a:ea typeface="+mj-ea"/>
              </a:rPr>
              <a:t>힐링캠프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: 7.5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점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 ·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디지털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역량강화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교육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: 7.0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점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 ·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전문가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초청연수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: 7.2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점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 ·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합창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프로그램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: 7.1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점</a:t>
            </a:r>
          </a:p>
          <a:p>
            <a:endParaRPr lang="ko-KR" altLang="en-US" sz="3000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AF9376-6EBC-46F5-BF38-27B678949499}"/>
              </a:ext>
            </a:extLst>
          </p:cNvPr>
          <p:cNvSpPr txBox="1"/>
          <p:nvPr/>
        </p:nvSpPr>
        <p:spPr>
          <a:xfrm>
            <a:off x="12650933" y="6041469"/>
            <a:ext cx="6424467" cy="362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</a:t>
            </a:r>
            <a:r>
              <a:rPr lang="ko-KR" altLang="ko-KR" sz="3000" b="1" dirty="0">
                <a:solidFill>
                  <a:srgbClr val="0070C0"/>
                </a:solidFill>
                <a:latin typeface="+mj-ea"/>
                <a:ea typeface="+mj-ea"/>
              </a:rPr>
              <a:t>보류</a:t>
            </a:r>
            <a:r>
              <a:rPr lang="en-US" altLang="ko-KR" sz="3000" b="1" dirty="0">
                <a:solidFill>
                  <a:srgbClr val="0070C0"/>
                </a:solidFill>
                <a:latin typeface="+mj-ea"/>
                <a:ea typeface="+mj-ea"/>
              </a:rPr>
              <a:t>/</a:t>
            </a:r>
            <a:r>
              <a:rPr lang="ko-KR" altLang="ko-KR" sz="3000" b="1" dirty="0">
                <a:solidFill>
                  <a:srgbClr val="0070C0"/>
                </a:solidFill>
                <a:latin typeface="+mj-ea"/>
                <a:ea typeface="+mj-ea"/>
              </a:rPr>
              <a:t>재검토</a:t>
            </a:r>
            <a:r>
              <a:rPr lang="en-US" altLang="ko-KR" sz="3000" b="1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altLang="ko-KR" sz="3000" b="1" dirty="0">
                <a:solidFill>
                  <a:srgbClr val="0070C0"/>
                </a:solidFill>
                <a:latin typeface="+mj-ea"/>
                <a:ea typeface="+mj-ea"/>
              </a:rPr>
              <a:t>사업</a:t>
            </a:r>
            <a:r>
              <a:rPr lang="en-US" altLang="ko-KR" sz="3000" b="1" dirty="0">
                <a:solidFill>
                  <a:srgbClr val="0070C0"/>
                </a:solidFill>
                <a:latin typeface="+mj-ea"/>
                <a:ea typeface="+mj-ea"/>
              </a:rPr>
              <a:t> (</a:t>
            </a:r>
            <a:r>
              <a:rPr lang="ko-KR" altLang="ko-KR" sz="3000" b="1" dirty="0">
                <a:solidFill>
                  <a:srgbClr val="0070C0"/>
                </a:solidFill>
                <a:latin typeface="+mj-ea"/>
                <a:ea typeface="+mj-ea"/>
              </a:rPr>
              <a:t>보통</a:t>
            </a:r>
            <a:r>
              <a:rPr lang="en-US" altLang="ko-KR" sz="3000" b="1" dirty="0">
                <a:solidFill>
                  <a:srgbClr val="0070C0"/>
                </a:solidFill>
                <a:latin typeface="+mj-ea"/>
                <a:ea typeface="+mj-ea"/>
              </a:rPr>
              <a:t> - </a:t>
            </a:r>
            <a:r>
              <a:rPr lang="ko-KR" altLang="ko-KR" sz="3000" b="1" dirty="0">
                <a:solidFill>
                  <a:srgbClr val="0070C0"/>
                </a:solidFill>
                <a:latin typeface="+mj-ea"/>
                <a:ea typeface="+mj-ea"/>
              </a:rPr>
              <a:t>사업보류</a:t>
            </a:r>
            <a:r>
              <a:rPr lang="en-US" altLang="ko-KR" sz="3000" b="1" dirty="0">
                <a:solidFill>
                  <a:srgbClr val="0070C0"/>
                </a:solidFill>
                <a:latin typeface="+mj-ea"/>
                <a:ea typeface="+mj-ea"/>
              </a:rPr>
              <a:t>)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 · </a:t>
            </a:r>
            <a:r>
              <a:rPr lang="ko-KR" altLang="ko-KR" sz="3000" b="1" dirty="0" err="1">
                <a:solidFill>
                  <a:srgbClr val="182245"/>
                </a:solidFill>
                <a:latin typeface="+mj-ea"/>
                <a:ea typeface="+mj-ea"/>
              </a:rPr>
              <a:t>힐링체험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: 6.4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점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 ·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동아리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활동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: 6.7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점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 · 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한마음체육대회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: 6.4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점</a:t>
            </a:r>
          </a:p>
          <a:p>
            <a:pPr lvl="0" algn="ctr">
              <a:lnSpc>
                <a:spcPct val="132800"/>
              </a:lnSpc>
            </a:pP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  · </a:t>
            </a:r>
            <a:r>
              <a:rPr lang="ko-KR" altLang="ko-KR" sz="3000" b="1" dirty="0" err="1">
                <a:solidFill>
                  <a:srgbClr val="182245"/>
                </a:solidFill>
                <a:latin typeface="+mj-ea"/>
                <a:ea typeface="+mj-ea"/>
              </a:rPr>
              <a:t>직능별워크샵</a:t>
            </a:r>
            <a:r>
              <a:rPr lang="en-US" altLang="ko-KR" sz="3000" b="1" dirty="0">
                <a:solidFill>
                  <a:srgbClr val="182245"/>
                </a:solidFill>
                <a:latin typeface="+mj-ea"/>
                <a:ea typeface="+mj-ea"/>
              </a:rPr>
              <a:t>: 6.9</a:t>
            </a:r>
            <a:r>
              <a:rPr lang="ko-KR" altLang="ko-KR" sz="3000" b="1" dirty="0">
                <a:solidFill>
                  <a:srgbClr val="182245"/>
                </a:solidFill>
                <a:latin typeface="+mj-ea"/>
                <a:ea typeface="+mj-ea"/>
              </a:rPr>
              <a:t>점</a:t>
            </a:r>
          </a:p>
          <a:p>
            <a:endParaRPr lang="ko-KR" altLang="en-US" sz="3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92250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219200" y="1104900"/>
            <a:ext cx="21996400" cy="11772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800" y="1409700"/>
            <a:ext cx="21221700" cy="1115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17500" y="850900"/>
            <a:ext cx="11684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3380700" y="10160000"/>
            <a:ext cx="11684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2400000">
            <a:off x="457200" y="12014200"/>
            <a:ext cx="1816100" cy="901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4051300" y="13195300"/>
            <a:ext cx="1168400" cy="110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8542000" y="482600"/>
            <a:ext cx="787400" cy="736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99500" y="177800"/>
            <a:ext cx="990600" cy="1854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148800" y="3162300"/>
            <a:ext cx="1651000" cy="1651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0200" y="8686800"/>
            <a:ext cx="1651000" cy="1651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4560000">
            <a:off x="15367000" y="12331700"/>
            <a:ext cx="1651000" cy="165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6540000">
            <a:off x="6045200" y="38100"/>
            <a:ext cx="1447800" cy="1447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146300" y="2438400"/>
            <a:ext cx="20104100" cy="1892300"/>
          </a:xfrm>
          <a:prstGeom prst="rect">
            <a:avLst/>
          </a:prstGeom>
        </p:spPr>
        <p:txBody>
          <a:bodyPr lIns="0" tIns="0" rIns="0" bIns="135467" rtlCol="0" anchor="b"/>
          <a:lstStyle/>
          <a:p>
            <a:pPr lvl="0" algn="ctr">
              <a:lnSpc>
                <a:spcPct val="99600"/>
              </a:lnSpc>
            </a:pPr>
            <a:r>
              <a:rPr lang="en" sz="10666" b="1" i="0" u="none" strike="noStrike" spc="-107" dirty="0">
                <a:solidFill>
                  <a:srgbClr val="000000"/>
                </a:solidFill>
                <a:latin typeface="+mj-ea"/>
                <a:ea typeface="+mj-ea"/>
              </a:rPr>
              <a:t>마무리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76500" y="4851400"/>
            <a:ext cx="19431000" cy="6692900"/>
          </a:xfrm>
          <a:prstGeom prst="rect">
            <a:avLst/>
          </a:prstGeom>
        </p:spPr>
        <p:txBody>
          <a:bodyPr lIns="0" tIns="4233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'</a:t>
            </a:r>
            <a:r>
              <a:rPr lang="ko-KR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그냥</a:t>
            </a:r>
            <a:r>
              <a:rPr lang="en-US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버틴</a:t>
            </a:r>
            <a:r>
              <a:rPr lang="en-US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시간이</a:t>
            </a:r>
            <a:r>
              <a:rPr lang="en-US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아니라</a:t>
            </a:r>
            <a:r>
              <a:rPr lang="en-US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, </a:t>
            </a:r>
            <a:r>
              <a:rPr lang="ko-KR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함께</a:t>
            </a:r>
            <a:r>
              <a:rPr lang="en-US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성장한</a:t>
            </a:r>
            <a:r>
              <a:rPr lang="en-US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시간이었습니다</a:t>
            </a:r>
            <a:r>
              <a:rPr lang="en-US" sz="5000" b="1" i="0" u="none" strike="noStrike" dirty="0">
                <a:solidFill>
                  <a:srgbClr val="000000"/>
                </a:solidFill>
                <a:latin typeface="+mj-ea"/>
                <a:ea typeface="+mj-ea"/>
              </a:rPr>
              <a:t>.'</a:t>
            </a:r>
          </a:p>
          <a:p>
            <a:pPr lvl="0" algn="ctr">
              <a:lnSpc>
                <a:spcPct val="107899"/>
              </a:lnSpc>
            </a:pPr>
            <a:endParaRPr lang="en-US" sz="5000" b="1" i="0" u="none" strike="noStrike" dirty="0">
              <a:solidFill>
                <a:srgbClr val="000000"/>
              </a:solidFill>
              <a:latin typeface="+mj-ea"/>
              <a:ea typeface="+mj-ea"/>
            </a:endParaRPr>
          </a:p>
          <a:p>
            <a:pPr lvl="0" algn="ctr">
              <a:lnSpc>
                <a:spcPct val="107899"/>
              </a:lnSpc>
            </a:pP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- 2025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년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프로그램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평가를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통해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개선점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확인</a:t>
            </a:r>
          </a:p>
          <a:p>
            <a:pPr lvl="0" algn="ctr">
              <a:lnSpc>
                <a:spcPct val="107899"/>
              </a:lnSpc>
            </a:pP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-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신규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프로그램의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긍정적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성과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확인</a:t>
            </a:r>
          </a:p>
          <a:p>
            <a:pPr lvl="0" algn="ctr">
              <a:lnSpc>
                <a:spcPct val="107899"/>
              </a:lnSpc>
            </a:pP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-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직원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만족도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향상을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위한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구체적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방향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설정</a:t>
            </a:r>
          </a:p>
          <a:p>
            <a:pPr marL="685800" lvl="0" indent="-685800" algn="ctr">
              <a:lnSpc>
                <a:spcPct val="107899"/>
              </a:lnSpc>
              <a:buFontTx/>
              <a:buChar char="-"/>
            </a:pP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함께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성장하는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조직문화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구축을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위한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지속적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노력</a:t>
            </a:r>
            <a:r>
              <a:rPr 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필요</a:t>
            </a:r>
            <a:endParaRPr lang="en-US" altLang="ko-KR" sz="5000" b="1" i="0" u="none" strike="noStrike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685800" lvl="0" indent="-685800" algn="ctr">
              <a:lnSpc>
                <a:spcPct val="107899"/>
              </a:lnSpc>
              <a:buFontTx/>
              <a:buChar char="-"/>
            </a:pPr>
            <a:r>
              <a:rPr lang="ko-KR" altLang="en-US" sz="5000" b="1" i="0" u="none" strike="noStrike" dirty="0">
                <a:solidFill>
                  <a:srgbClr val="FF0000"/>
                </a:solidFill>
                <a:latin typeface="+mj-ea"/>
                <a:ea typeface="+mj-ea"/>
              </a:rPr>
              <a:t>의견대로 운영방법 보완을 통한 새로운 시도 필요</a:t>
            </a:r>
            <a:endParaRPr lang="en-US" altLang="ko-KR" sz="5000" b="1" i="0" u="none" strike="noStrike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685800" lvl="0" indent="-685800" algn="ctr">
              <a:lnSpc>
                <a:spcPct val="107899"/>
              </a:lnSpc>
              <a:buFontTx/>
              <a:buChar char="-"/>
            </a:pPr>
            <a:r>
              <a:rPr lang="ko-KR" altLang="en-US" sz="5000" b="1" dirty="0">
                <a:solidFill>
                  <a:srgbClr val="FF0000"/>
                </a:solidFill>
                <a:latin typeface="+mj-ea"/>
                <a:ea typeface="+mj-ea"/>
              </a:rPr>
              <a:t>보류로 평가된 사업 중 운영평가 점수가 낮은 사업 재검토</a:t>
            </a:r>
            <a:endParaRPr lang="ko-KR" sz="5000" b="1" i="0" u="none" strike="noStrike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돋움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1688</Words>
  <Application>Microsoft Office PowerPoint</Application>
  <PresentationFormat>사용자 지정</PresentationFormat>
  <Paragraphs>402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Arial</vt:lpstr>
      <vt:lpstr>돋움</vt:lpstr>
      <vt:lpstr>Franklin Gothic Book</vt:lpstr>
      <vt:lpstr>굴림</vt:lpstr>
      <vt:lpstr>Nanum NeuRisNeuRisCe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사하</dc:creator>
  <cp:lastModifiedBy>사하</cp:lastModifiedBy>
  <cp:revision>66</cp:revision>
  <cp:lastPrinted>2025-11-27T00:11:56Z</cp:lastPrinted>
  <dcterms:created xsi:type="dcterms:W3CDTF">2006-08-16T00:00:00Z</dcterms:created>
  <dcterms:modified xsi:type="dcterms:W3CDTF">2025-11-27T01:48:35Z</dcterms:modified>
</cp:coreProperties>
</file>